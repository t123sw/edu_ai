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media/image11.svg" ContentType="image/svg+xml"/>
  <Override PartName="/ppt/media/image13.svg" ContentType="image/svg+xml"/>
  <Override PartName="/ppt/media/image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9"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幕僚" initials="authorId_89756288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6759D"/>
    <a:srgbClr val="877A98"/>
    <a:srgbClr val="8C6F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8.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566998106060606"/>
          <c:y val="0.0463565891472868"/>
          <c:w val="0.888967803030303"/>
          <c:h val="0.745581395348837"/>
        </c:manualLayout>
      </c:layout>
      <c:barChart>
        <c:barDir val="col"/>
        <c:grouping val="clustered"/>
        <c:varyColors val="0"/>
        <c:ser>
          <c:idx val="0"/>
          <c:order val="0"/>
          <c:tx>
            <c:strRef>
              <c:f>Sheet1!$B$1</c:f>
              <c:strCache>
                <c:ptCount val="1"/>
                <c:pt idx="0">
                  <c:v>Avg Accuracy</c:v>
                </c:pt>
              </c:strCache>
            </c:strRef>
          </c:tx>
          <c:invertIfNegative val="0"/>
          <c:dLbls>
            <c:numFmt formatCode="#,##0.00_);[Red]\(#,##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InfiGUIAgent-2B</c:v>
                </c:pt>
                <c:pt idx="1">
                  <c:v>ShowUI-2B</c:v>
                </c:pt>
                <c:pt idx="2">
                  <c:v>UGround-7B</c:v>
                </c:pt>
                <c:pt idx="3">
                  <c:v>SeeClick</c:v>
                </c:pt>
                <c:pt idx="4">
                  <c:v>CogAgent</c:v>
                </c:pt>
                <c:pt idx="5">
                  <c:v>Qwen2-VL-7B</c:v>
                </c:pt>
              </c:strCache>
            </c:strRef>
          </c:cat>
          <c:val>
            <c:numRef>
              <c:f>Sheet1!$B$2:$B$7</c:f>
              <c:numCache>
                <c:formatCode>General</c:formatCode>
                <c:ptCount val="6"/>
                <c:pt idx="0">
                  <c:v>76.3</c:v>
                </c:pt>
                <c:pt idx="1">
                  <c:v>75.1</c:v>
                </c:pt>
                <c:pt idx="2">
                  <c:v>73.3</c:v>
                </c:pt>
                <c:pt idx="3">
                  <c:v>53.4</c:v>
                </c:pt>
                <c:pt idx="4">
                  <c:v>47.4</c:v>
                </c:pt>
                <c:pt idx="5">
                  <c:v>42.9</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txPr>
          <a:bodyPr rot="27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2094734552"/>
        <c:crosses val="autoZero"/>
        <c:auto val="1"/>
        <c:lblAlgn val="ctr"/>
        <c:lblOffset val="100"/>
        <c:noMultiLvlLbl val="1"/>
      </c:catAx>
      <c:valAx>
        <c:axId val="2094734552"/>
        <c:scaling>
          <c:orientation val="minMax"/>
          <c:max val="85"/>
        </c:scaling>
        <c:delete val="0"/>
        <c:axPos val="l"/>
        <c:majorGridlines/>
        <c:numFmt formatCode="General" sourceLinked="0"/>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2094734554"/>
        <c:crosses val="autoZero"/>
        <c:crossBetween val="between"/>
      </c:valAx>
    </c:plotArea>
    <c:plotVisOnly val="1"/>
    <c:dispBlanksAs val="span"/>
    <c:showDLblsOverMax val="0"/>
    <c:extLst>
      <c:ext uri="{0b15fc19-7d7d-44ad-8c2d-2c3a37ce22c3}">
        <chartProps xmlns="https://web.wps.cn/et/2018/main" chartId="{abe158d6-8e2e-47de-ae63-f0c160bea6e4}"/>
      </c:ext>
    </c:extLst>
  </c:chart>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832368827160494"/>
          <c:y val="0.0949074074074074"/>
          <c:w val="0.913869598765432"/>
          <c:h val="0.598611111111111"/>
        </c:manualLayout>
      </c:layout>
      <c:barChart>
        <c:barDir val="col"/>
        <c:grouping val="clustered"/>
        <c:varyColors val="0"/>
        <c:ser>
          <c:idx val="0"/>
          <c:order val="0"/>
          <c:tx>
            <c:strRef>
              <c:f>Sheet1!$B$1</c:f>
              <c:strCache>
                <c:ptCount val="1"/>
                <c:pt idx="0">
                  <c:v>Success Rate</c:v>
                </c:pt>
              </c:strCache>
            </c:strRef>
          </c:tx>
          <c:spPr>
            <a:solidFill>
              <a:srgbClr val="F97316"/>
            </a:solidFill>
            <a:effectLst/>
          </c:spPr>
          <c:invertIfNegative val="0"/>
          <c:dLbls>
            <c:numFmt formatCode="#,##0.00_);[Red]\(#,##0.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InfiGUIAgent-2B</c:v>
                </c:pt>
                <c:pt idx="1">
                  <c:v>ShowUI-2B</c:v>
                </c:pt>
                <c:pt idx="2">
                  <c:v>Qwen2-VL-72B</c:v>
                </c:pt>
                <c:pt idx="3">
                  <c:v>Qwen2-VL-7B</c:v>
                </c:pt>
                <c:pt idx="4">
                  <c:v>LLaVa-OV-7B</c:v>
                </c:pt>
              </c:strCache>
            </c:strRef>
          </c:cat>
          <c:val>
            <c:numRef>
              <c:f>Sheet1!$B$2:$B$6</c:f>
              <c:numCache>
                <c:formatCode>General</c:formatCode>
                <c:ptCount val="5"/>
                <c:pt idx="0">
                  <c:v>0.09</c:v>
                </c:pt>
                <c:pt idx="1">
                  <c:v>0.07</c:v>
                </c:pt>
                <c:pt idx="2">
                  <c:v>0.05</c:v>
                </c:pt>
                <c:pt idx="3">
                  <c:v>0.05</c:v>
                </c:pt>
                <c:pt idx="4" c:formatCode="0.00_ ">
                  <c:v>0</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2700000" spcFirstLastPara="0" vertOverflow="ellipsis" vert="horz" wrap="square" anchor="ctr" anchorCtr="1"/>
          <a:lstStyle/>
          <a:p>
            <a:pPr>
              <a:defRPr lang="zh-CN" sz="1000" b="0" i="0" u="none" strike="noStrike" kern="1200" baseline="0">
                <a:solidFill>
                  <a:srgbClr val="00000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16"/>
        </c:scaling>
        <c:delete val="0"/>
        <c:axPos val="l"/>
        <c:majorGridlines>
          <c:spPr>
            <a:ln w="12700" cap="flat" cmpd="sng" algn="ctr">
              <a:solidFill>
                <a:srgbClr val="E5E7EB"/>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a53ed001-6934-499a-8624-f2aea1a61aff}"/>
      </c:ext>
    </c:extLst>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To wrap up: InfiGUIAgent argues that GUI agents need more than perception — they need trained reasoning and self-correction.
The two-stage SFT approach is a clean way to separate learning “GUI literacy” from learning long-horizon planning.
At the same time, AndroidWorld success rate is only 0.13, so there’s a big gap to real-world reliability.
If I extend this line of work, I’d add RL for error recovery, improve high-resolution grounding, and put strong safety constraints around actions.
Thank you — happy to take questions.
[Sources]
- https://arxiv.org/abs/2501.04575
- https://github.com/InfiXAI/InfiGUIAgent
- https://openreview.net/pdf/d3764ee65c594d1c77f1f4519468ae093902513c.pdf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sv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tags" Target="../tags/tag7.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122680"/>
            <a:ext cx="3978275" cy="2387600"/>
          </a:xfrm>
        </p:spPr>
        <p:txBody>
          <a:bodyPr>
            <a:normAutofit/>
          </a:bodyPr>
          <a:p>
            <a:r>
              <a:rPr lang="en-US" altLang="zh-CN" sz="4400" b="1"/>
              <a:t>InfiGUIAgent</a:t>
            </a:r>
            <a:br>
              <a:rPr lang="en-US" altLang="zh-CN" sz="4400" b="1"/>
            </a:br>
            <a:r>
              <a:rPr lang="en-US" altLang="zh-CN" sz="3555"/>
              <a:t> </a:t>
            </a:r>
            <a:endParaRPr lang="en-US" altLang="zh-CN" sz="3555"/>
          </a:p>
        </p:txBody>
      </p:sp>
      <p:sp>
        <p:nvSpPr>
          <p:cNvPr id="8" name="Shape 6"/>
          <p:cNvSpPr/>
          <p:nvPr/>
        </p:nvSpPr>
        <p:spPr>
          <a:xfrm>
            <a:off x="7589520" y="914400"/>
            <a:ext cx="4343400" cy="4480560"/>
          </a:xfrm>
          <a:prstGeom prst="roundRect">
            <a:avLst/>
          </a:prstGeom>
          <a:solidFill>
            <a:srgbClr val="FFFFFF"/>
          </a:solidFill>
          <a:ln w="12700">
            <a:solidFill>
              <a:srgbClr val="E5E7EB"/>
            </a:solidFill>
            <a:prstDash val="solid"/>
          </a:ln>
          <a:effectLst>
            <a:outerShdw blurRad="38100" dist="25400" dir="2700000" algn="bl" rotWithShape="0">
              <a:srgbClr val="000000">
                <a:alpha val="10000"/>
              </a:srgbClr>
            </a:outerShdw>
          </a:effectLst>
        </p:spPr>
      </p:sp>
      <p:pic>
        <p:nvPicPr>
          <p:cNvPr id="9" name="Image 0" descr="/mnt/data/infiguiagent_assets/fig1_two_stage_clean2.png"/>
          <p:cNvPicPr>
            <a:picLocks noChangeAspect="1"/>
          </p:cNvPicPr>
          <p:nvPr/>
        </p:nvPicPr>
        <p:blipFill>
          <a:blip r:embed="rId1"/>
          <a:stretch>
            <a:fillRect/>
          </a:stretch>
        </p:blipFill>
        <p:spPr>
          <a:xfrm>
            <a:off x="7726680" y="1834393"/>
            <a:ext cx="4069080" cy="2640573"/>
          </a:xfrm>
          <a:prstGeom prst="rect">
            <a:avLst/>
          </a:prstGeom>
        </p:spPr>
      </p:pic>
      <p:sp>
        <p:nvSpPr>
          <p:cNvPr id="4" name="文本框 3"/>
          <p:cNvSpPr txBox="1"/>
          <p:nvPr/>
        </p:nvSpPr>
        <p:spPr>
          <a:xfrm>
            <a:off x="901065" y="3096895"/>
            <a:ext cx="5223510" cy="1198880"/>
          </a:xfrm>
          <a:prstGeom prst="rect">
            <a:avLst/>
          </a:prstGeom>
          <a:noFill/>
        </p:spPr>
        <p:txBody>
          <a:bodyPr wrap="square" rtlCol="0">
            <a:spAutoFit/>
          </a:bodyPr>
          <a:p>
            <a:pPr algn="ctr"/>
            <a:r>
              <a:rPr lang="en-US" altLang="zh-CN" sz="2400">
                <a:gradFill>
                  <a:gsLst>
                    <a:gs pos="21000">
                      <a:srgbClr val="53575C"/>
                    </a:gs>
                    <a:gs pos="88000">
                      <a:srgbClr val="C5C7CA"/>
                    </a:gs>
                  </a:gsLst>
                  <a:lin ang="5400000"/>
                </a:gradFill>
                <a:effectLst/>
                <a:sym typeface="+mn-ea"/>
              </a:rPr>
              <a:t>A Multimodal Generalist GUI Agent with Native Reasoning and Reflection</a:t>
            </a:r>
            <a:endParaRPr lang="en-US" altLang="zh-CN" sz="2400">
              <a:gradFill>
                <a:gsLst>
                  <a:gs pos="21000">
                    <a:srgbClr val="53575C"/>
                  </a:gs>
                  <a:gs pos="88000">
                    <a:srgbClr val="C5C7CA"/>
                  </a:gs>
                </a:gsLst>
                <a:lin ang="5400000"/>
              </a:gradFill>
              <a:effectLst/>
            </a:endParaRPr>
          </a:p>
          <a:p>
            <a:pPr algn="ctr"/>
            <a:endParaRPr lang="en-US" altLang="zh-CN" sz="2400">
              <a:gradFill>
                <a:gsLst>
                  <a:gs pos="21000">
                    <a:srgbClr val="53575C"/>
                  </a:gs>
                  <a:gs pos="88000">
                    <a:srgbClr val="C5C7CA"/>
                  </a:gs>
                </a:gsLst>
                <a:lin ang="5400000"/>
              </a:gradFill>
              <a:effectLst/>
            </a:endParaRPr>
          </a:p>
        </p:txBody>
      </p:sp>
      <p:sp>
        <p:nvSpPr>
          <p:cNvPr id="5" name="Shape 0"/>
          <p:cNvSpPr/>
          <p:nvPr/>
        </p:nvSpPr>
        <p:spPr>
          <a:xfrm>
            <a:off x="0" y="0"/>
            <a:ext cx="201168" cy="6858000"/>
          </a:xfrm>
          <a:prstGeom prst="rect">
            <a:avLst/>
          </a:prstGeom>
          <a:solidFill>
            <a:srgbClr val="2563EB"/>
          </a:solidFill>
          <a:ln w="12700">
            <a:solidFill>
              <a:srgbClr val="2563EB"/>
            </a:solidFill>
            <a:prstDash val="solid"/>
          </a:ln>
        </p:spPr>
      </p:sp>
      <p:sp>
        <p:nvSpPr>
          <p:cNvPr id="6" name="文本框 5"/>
          <p:cNvSpPr txBox="1"/>
          <p:nvPr/>
        </p:nvSpPr>
        <p:spPr>
          <a:xfrm>
            <a:off x="2322830" y="4368800"/>
            <a:ext cx="2379980" cy="368300"/>
          </a:xfrm>
          <a:prstGeom prst="rect">
            <a:avLst/>
          </a:prstGeom>
          <a:noFill/>
        </p:spPr>
        <p:txBody>
          <a:bodyPr wrap="square" rtlCol="0">
            <a:spAutoFit/>
          </a:bodyPr>
          <a:p>
            <a:r>
              <a:rPr lang="en-US" altLang="zh-CN"/>
              <a:t>Presenter: MaDehao</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1078747774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98495" y="-69850"/>
            <a:ext cx="914400" cy="914400"/>
          </a:xfrm>
          <a:prstGeom prst="rect">
            <a:avLst/>
          </a:prstGeom>
        </p:spPr>
      </p:pic>
      <p:sp>
        <p:nvSpPr>
          <p:cNvPr id="5" name="圆角矩形 4"/>
          <p:cNvSpPr/>
          <p:nvPr/>
        </p:nvSpPr>
        <p:spPr>
          <a:xfrm>
            <a:off x="2111375" y="1103630"/>
            <a:ext cx="3089275" cy="1147445"/>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p>
            <a:pPr algn="ctr"/>
            <a:r>
              <a:rPr lang="en-US" altLang="zh-CN" sz="2400" b="1">
                <a:solidFill>
                  <a:schemeClr val="tx1"/>
                </a:solidFill>
              </a:rPr>
              <a:t>Background</a:t>
            </a:r>
            <a:endParaRPr lang="en-US" altLang="zh-CN" sz="2400" b="1">
              <a:solidFill>
                <a:schemeClr val="tx1"/>
              </a:solidFill>
            </a:endParaRPr>
          </a:p>
        </p:txBody>
      </p:sp>
      <p:sp>
        <p:nvSpPr>
          <p:cNvPr id="7" name="圆角矩形 6"/>
          <p:cNvSpPr/>
          <p:nvPr/>
        </p:nvSpPr>
        <p:spPr>
          <a:xfrm>
            <a:off x="2111375" y="2597785"/>
            <a:ext cx="3089275" cy="1147445"/>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p>
            <a:pPr algn="ctr"/>
            <a:r>
              <a:rPr lang="en-US" altLang="zh-CN" sz="2400" b="1">
                <a:solidFill>
                  <a:schemeClr val="tx1"/>
                </a:solidFill>
              </a:rPr>
              <a:t>Methods</a:t>
            </a:r>
            <a:endParaRPr lang="en-US" altLang="zh-CN" sz="2400" b="1">
              <a:solidFill>
                <a:schemeClr val="tx1"/>
              </a:solidFill>
            </a:endParaRPr>
          </a:p>
        </p:txBody>
      </p:sp>
      <p:sp>
        <p:nvSpPr>
          <p:cNvPr id="9" name="圆角矩形 8"/>
          <p:cNvSpPr/>
          <p:nvPr/>
        </p:nvSpPr>
        <p:spPr>
          <a:xfrm>
            <a:off x="2111375" y="4184650"/>
            <a:ext cx="3089275" cy="1147445"/>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p>
            <a:pPr algn="ctr"/>
            <a:r>
              <a:rPr lang="en-US" altLang="zh-CN" sz="2400" b="1">
                <a:solidFill>
                  <a:schemeClr val="tx1"/>
                </a:solidFill>
              </a:rPr>
              <a:t>Benchmarks and results</a:t>
            </a:r>
            <a:endParaRPr lang="en-US" altLang="zh-CN" sz="2400" b="1">
              <a:solidFill>
                <a:schemeClr val="tx1"/>
              </a:solidFill>
            </a:endParaRPr>
          </a:p>
        </p:txBody>
      </p:sp>
      <p:sp>
        <p:nvSpPr>
          <p:cNvPr id="11" name="圆角矩形 10"/>
          <p:cNvSpPr/>
          <p:nvPr/>
        </p:nvSpPr>
        <p:spPr>
          <a:xfrm>
            <a:off x="2111375" y="5567680"/>
            <a:ext cx="3089275" cy="1147445"/>
          </a:xfrm>
          <a:prstGeom prst="roundRect">
            <a:avLst/>
          </a:prstGeom>
        </p:spPr>
        <p:style>
          <a:lnRef idx="0">
            <a:srgbClr val="FFFFFF"/>
          </a:lnRef>
          <a:fillRef idx="2">
            <a:schemeClr val="accent1"/>
          </a:fillRef>
          <a:effectRef idx="1">
            <a:schemeClr val="accent1"/>
          </a:effectRef>
          <a:fontRef idx="minor">
            <a:schemeClr val="lt1"/>
          </a:fontRef>
        </p:style>
        <p:txBody>
          <a:bodyPr rtlCol="0" anchor="ctr"/>
          <a:p>
            <a:pPr algn="ctr"/>
            <a:r>
              <a:rPr lang="en-US" altLang="zh-CN" sz="2400" b="1">
                <a:solidFill>
                  <a:schemeClr val="tx1"/>
                </a:solidFill>
              </a:rPr>
              <a:t>Conclusion</a:t>
            </a:r>
            <a:endParaRPr lang="en-US" altLang="zh-CN" sz="2400" b="1">
              <a:solidFill>
                <a:schemeClr val="tx1"/>
              </a:solidFill>
            </a:endParaRPr>
          </a:p>
        </p:txBody>
      </p:sp>
      <p:cxnSp>
        <p:nvCxnSpPr>
          <p:cNvPr id="12" name="直接箭头连接符 11"/>
          <p:cNvCxnSpPr>
            <a:stCxn id="4" idx="2"/>
            <a:endCxn id="5" idx="0"/>
          </p:cNvCxnSpPr>
          <p:nvPr/>
        </p:nvCxnSpPr>
        <p:spPr>
          <a:xfrm>
            <a:off x="3655695" y="844550"/>
            <a:ext cx="635" cy="25908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4" name="直接箭头连接符 13"/>
          <p:cNvCxnSpPr>
            <a:stCxn id="5" idx="2"/>
            <a:endCxn id="7" idx="0"/>
          </p:cNvCxnSpPr>
          <p:nvPr/>
        </p:nvCxnSpPr>
        <p:spPr>
          <a:xfrm>
            <a:off x="3656330" y="2251075"/>
            <a:ext cx="0" cy="34671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5" name="直接箭头连接符 14"/>
          <p:cNvCxnSpPr>
            <a:stCxn id="7" idx="2"/>
            <a:endCxn id="9" idx="0"/>
          </p:cNvCxnSpPr>
          <p:nvPr/>
        </p:nvCxnSpPr>
        <p:spPr>
          <a:xfrm>
            <a:off x="3656330" y="3745230"/>
            <a:ext cx="0" cy="43942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6" name="直接箭头连接符 15"/>
          <p:cNvCxnSpPr>
            <a:stCxn id="9" idx="2"/>
            <a:endCxn id="11" idx="0"/>
          </p:cNvCxnSpPr>
          <p:nvPr/>
        </p:nvCxnSpPr>
        <p:spPr>
          <a:xfrm>
            <a:off x="3656330" y="5332095"/>
            <a:ext cx="0" cy="235585"/>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mj-lt"/>
                <a:cs typeface="+mj-lt"/>
              </a:rPr>
              <a:t>Background</a:t>
            </a:r>
            <a:endParaRPr lang="en-US" altLang="zh-CN">
              <a:solidFill>
                <a:schemeClr val="tx1"/>
              </a:solidFill>
              <a:latin typeface="+mj-lt"/>
              <a:cs typeface="+mj-lt"/>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Methods</a:t>
            </a:r>
            <a:endParaRPr lang="en-US" altLang="zh-CN"/>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Benchmarks and results</a:t>
            </a:r>
            <a:endParaRPr lang="en-US" altLang="zh-CN"/>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12" name="文本框 11"/>
          <p:cNvSpPr txBox="1"/>
          <p:nvPr/>
        </p:nvSpPr>
        <p:spPr>
          <a:xfrm>
            <a:off x="598170" y="1523365"/>
            <a:ext cx="5497830" cy="2799715"/>
          </a:xfrm>
          <a:prstGeom prst="rect">
            <a:avLst/>
          </a:prstGeom>
          <a:noFill/>
        </p:spPr>
        <p:txBody>
          <a:bodyPr wrap="square" rtlCol="0">
            <a:spAutoFit/>
          </a:bodyPr>
          <a:p>
            <a:pPr indent="457200" algn="just"/>
            <a:r>
              <a:rPr lang="en-US" altLang="zh-CN" sz="1600">
                <a:cs typeface="+mn-lt"/>
              </a:rPr>
              <a:t>Graphical User Interface (GUI) Agents have emerged as powerful tools for automating tasks on computing devices, including mobile phones and computers.</a:t>
            </a:r>
            <a:endParaRPr lang="en-US" altLang="zh-CN" sz="1600">
              <a:cs typeface="+mn-lt"/>
            </a:endParaRPr>
          </a:p>
          <a:p>
            <a:pPr indent="457200" algn="just"/>
            <a:r>
              <a:rPr lang="en-US" altLang="zh-CN" sz="1600">
                <a:cs typeface="+mn-lt"/>
              </a:rPr>
              <a:t>These agents can understand and interact with GUIs to execute complex operations, significantly enhancing user productivity and expanding the scope of automated task completion</a:t>
            </a:r>
            <a:endParaRPr lang="en-US" altLang="zh-CN" sz="1600">
              <a:cs typeface="+mn-lt"/>
            </a:endParaRPr>
          </a:p>
          <a:p>
            <a:pPr indent="457200" algn="just"/>
            <a:endParaRPr lang="en-US" altLang="zh-CN" sz="1600">
              <a:cs typeface="+mn-lt"/>
            </a:endParaRPr>
          </a:p>
          <a:p>
            <a:pPr indent="457200" algn="just"/>
            <a:r>
              <a:rPr lang="en-US" altLang="zh-CN" sz="1600">
                <a:cs typeface="+mn-lt"/>
              </a:rPr>
              <a:t>Recent developments in multimodal large language models (MLLMs) have significantly advanced the potential of GUI Agents. </a:t>
            </a:r>
            <a:endParaRPr lang="en-US" altLang="zh-CN" sz="1600">
              <a:cs typeface="+mn-lt"/>
            </a:endParaRPr>
          </a:p>
        </p:txBody>
      </p:sp>
      <p:pic>
        <p:nvPicPr>
          <p:cNvPr id="13" name="图片 12" descr="ChatGPT Image 2025年12月23日 17_42_57"/>
          <p:cNvPicPr>
            <a:picLocks noChangeAspect="1"/>
          </p:cNvPicPr>
          <p:nvPr/>
        </p:nvPicPr>
        <p:blipFill>
          <a:blip r:embed="rId1"/>
          <a:stretch>
            <a:fillRect/>
          </a:stretch>
        </p:blipFill>
        <p:spPr>
          <a:xfrm>
            <a:off x="6256655" y="1568450"/>
            <a:ext cx="5415915" cy="36112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12"/>
          <p:cNvSpPr/>
          <p:nvPr/>
        </p:nvSpPr>
        <p:spPr>
          <a:xfrm>
            <a:off x="5652135" y="1327785"/>
            <a:ext cx="6463030" cy="5310505"/>
          </a:xfrm>
          <a:prstGeom prst="roundRect">
            <a:avLst/>
          </a:prstGeom>
          <a:solidFill>
            <a:schemeClr val="accent5">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272415" y="0"/>
            <a:ext cx="299529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mj-lt"/>
                <a:cs typeface="+mj-lt"/>
              </a:rPr>
              <a:t>Background</a:t>
            </a:r>
            <a:endParaRPr lang="en-US" altLang="zh-CN">
              <a:solidFill>
                <a:schemeClr val="tx1"/>
              </a:solidFill>
              <a:latin typeface="+mj-lt"/>
              <a:cs typeface="+mj-lt"/>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Methods</a:t>
            </a:r>
            <a:endParaRPr lang="en-US" altLang="zh-CN"/>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Benchmarks and results</a:t>
            </a:r>
            <a:endParaRPr lang="en-US" altLang="zh-CN"/>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12" name="文本框 11"/>
          <p:cNvSpPr txBox="1"/>
          <p:nvPr/>
        </p:nvSpPr>
        <p:spPr>
          <a:xfrm>
            <a:off x="598170" y="1523365"/>
            <a:ext cx="4820920" cy="1814830"/>
          </a:xfrm>
          <a:prstGeom prst="rect">
            <a:avLst/>
          </a:prstGeom>
          <a:noFill/>
        </p:spPr>
        <p:txBody>
          <a:bodyPr wrap="square" rtlCol="0">
            <a:spAutoFit/>
          </a:bodyPr>
          <a:p>
            <a:pPr indent="457200" algn="just"/>
            <a:r>
              <a:rPr lang="en-US" altLang="zh-CN" sz="1600">
                <a:cs typeface="+mn-lt"/>
              </a:rPr>
              <a:t>Visual-Language Models (VLMs) are a class of multimodal large-scale models capable of jointly understanding images and text. They encode visual information such as screenshots, photos, and charts into reasonable representations and align them with natural language instructions, thus completing a closed loop of "seeing—understanding—responding/acting."</a:t>
            </a:r>
            <a:endParaRPr lang="en-US" altLang="zh-CN" sz="1600">
              <a:cs typeface="+mn-lt"/>
            </a:endParaRPr>
          </a:p>
        </p:txBody>
      </p:sp>
      <p:sp>
        <p:nvSpPr>
          <p:cNvPr id="16" name="矩形 15"/>
          <p:cNvSpPr/>
          <p:nvPr/>
        </p:nvSpPr>
        <p:spPr>
          <a:xfrm>
            <a:off x="7991475" y="2152015"/>
            <a:ext cx="2164080" cy="3854450"/>
          </a:xfrm>
          <a:prstGeom prst="rect">
            <a:avLst/>
          </a:prstGeom>
          <a:solidFill>
            <a:schemeClr val="bg1"/>
          </a:solidFill>
          <a:ln>
            <a:solidFill>
              <a:schemeClr val="bg2">
                <a:lumMod val="9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 name="图片 3" descr="厨房"/>
          <p:cNvPicPr>
            <a:picLocks noChangeAspect="1"/>
          </p:cNvPicPr>
          <p:nvPr/>
        </p:nvPicPr>
        <p:blipFill>
          <a:blip r:embed="rId1"/>
          <a:stretch>
            <a:fillRect/>
          </a:stretch>
        </p:blipFill>
        <p:spPr>
          <a:xfrm>
            <a:off x="8143240" y="3429000"/>
            <a:ext cx="1861185" cy="1495425"/>
          </a:xfrm>
          <a:prstGeom prst="rect">
            <a:avLst/>
          </a:prstGeom>
        </p:spPr>
      </p:pic>
      <p:sp>
        <p:nvSpPr>
          <p:cNvPr id="17" name="矩形 16"/>
          <p:cNvSpPr/>
          <p:nvPr/>
        </p:nvSpPr>
        <p:spPr>
          <a:xfrm>
            <a:off x="10195560" y="2152015"/>
            <a:ext cx="1864995" cy="3854450"/>
          </a:xfrm>
          <a:prstGeom prst="rect">
            <a:avLst/>
          </a:prstGeom>
          <a:solidFill>
            <a:schemeClr val="bg1"/>
          </a:solidFill>
          <a:ln>
            <a:solidFill>
              <a:schemeClr val="bg2">
                <a:lumMod val="9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dog"/>
          <p:cNvPicPr>
            <a:picLocks noChangeAspect="1"/>
          </p:cNvPicPr>
          <p:nvPr/>
        </p:nvPicPr>
        <p:blipFill>
          <a:blip r:embed="rId2"/>
          <a:stretch>
            <a:fillRect/>
          </a:stretch>
        </p:blipFill>
        <p:spPr>
          <a:xfrm>
            <a:off x="10238740" y="3429000"/>
            <a:ext cx="1802765" cy="1459865"/>
          </a:xfrm>
          <a:prstGeom prst="rect">
            <a:avLst/>
          </a:prstGeom>
        </p:spPr>
      </p:pic>
      <p:sp>
        <p:nvSpPr>
          <p:cNvPr id="15" name="矩形 14"/>
          <p:cNvSpPr/>
          <p:nvPr/>
        </p:nvSpPr>
        <p:spPr>
          <a:xfrm>
            <a:off x="5747385" y="2152015"/>
            <a:ext cx="2132965" cy="3854450"/>
          </a:xfrm>
          <a:prstGeom prst="rect">
            <a:avLst/>
          </a:prstGeom>
          <a:solidFill>
            <a:schemeClr val="bg1"/>
          </a:solidFill>
          <a:ln>
            <a:solidFill>
              <a:schemeClr val="bg2">
                <a:lumMod val="9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cupcake"/>
          <p:cNvPicPr>
            <a:picLocks noChangeAspect="1"/>
          </p:cNvPicPr>
          <p:nvPr/>
        </p:nvPicPr>
        <p:blipFill>
          <a:blip r:embed="rId3"/>
          <a:stretch>
            <a:fillRect/>
          </a:stretch>
        </p:blipFill>
        <p:spPr>
          <a:xfrm>
            <a:off x="5894070" y="3429000"/>
            <a:ext cx="1859915" cy="1495425"/>
          </a:xfrm>
          <a:prstGeom prst="rect">
            <a:avLst/>
          </a:prstGeom>
        </p:spPr>
      </p:pic>
      <p:sp>
        <p:nvSpPr>
          <p:cNvPr id="14" name="矩形 13"/>
          <p:cNvSpPr/>
          <p:nvPr/>
        </p:nvSpPr>
        <p:spPr>
          <a:xfrm>
            <a:off x="7719060" y="1017270"/>
            <a:ext cx="2329815" cy="61976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VLM C</a:t>
            </a:r>
            <a:r>
              <a:rPr lang="en-US" altLang="zh-CN"/>
              <a:t>apbilities</a:t>
            </a:r>
            <a:endParaRPr lang="en-US" altLang="zh-CN"/>
          </a:p>
        </p:txBody>
      </p:sp>
      <p:sp>
        <p:nvSpPr>
          <p:cNvPr id="18" name="圆角矩形 17"/>
          <p:cNvSpPr/>
          <p:nvPr/>
        </p:nvSpPr>
        <p:spPr>
          <a:xfrm>
            <a:off x="6448425" y="1965960"/>
            <a:ext cx="751840" cy="29464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VQA</a:t>
            </a:r>
            <a:endParaRPr lang="en-US" altLang="zh-CN"/>
          </a:p>
        </p:txBody>
      </p:sp>
      <p:sp>
        <p:nvSpPr>
          <p:cNvPr id="19" name="圆角矩形 18"/>
          <p:cNvSpPr/>
          <p:nvPr/>
        </p:nvSpPr>
        <p:spPr>
          <a:xfrm>
            <a:off x="8403590" y="1965960"/>
            <a:ext cx="1341120" cy="29464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a:t>
            </a:r>
            <a:r>
              <a:rPr lang="en-US" altLang="zh-CN"/>
              <a:t>aptioning</a:t>
            </a:r>
            <a:endParaRPr lang="en-US" altLang="zh-CN"/>
          </a:p>
        </p:txBody>
      </p:sp>
      <p:sp>
        <p:nvSpPr>
          <p:cNvPr id="20" name="圆角矩形 19"/>
          <p:cNvSpPr/>
          <p:nvPr/>
        </p:nvSpPr>
        <p:spPr>
          <a:xfrm>
            <a:off x="10558780" y="1965960"/>
            <a:ext cx="1223645" cy="29464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G</a:t>
            </a:r>
            <a:r>
              <a:rPr lang="en-US" altLang="zh-CN"/>
              <a:t>rounding</a:t>
            </a:r>
            <a:endParaRPr lang="en-US" altLang="zh-CN"/>
          </a:p>
        </p:txBody>
      </p:sp>
      <p:pic>
        <p:nvPicPr>
          <p:cNvPr id="21" name="图片 20" descr="对话框"/>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47385" y="2458720"/>
            <a:ext cx="1463040" cy="914400"/>
          </a:xfrm>
          <a:prstGeom prst="rect">
            <a:avLst/>
          </a:prstGeom>
        </p:spPr>
      </p:pic>
      <p:pic>
        <p:nvPicPr>
          <p:cNvPr id="22" name="图片 21" descr="对话框"/>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1475" y="2387600"/>
            <a:ext cx="1463040" cy="914400"/>
          </a:xfrm>
          <a:prstGeom prst="rect">
            <a:avLst/>
          </a:prstGeom>
        </p:spPr>
      </p:pic>
      <p:pic>
        <p:nvPicPr>
          <p:cNvPr id="23" name="图片 22" descr="对话框"/>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95560" y="2387600"/>
            <a:ext cx="1463040" cy="914400"/>
          </a:xfrm>
          <a:prstGeom prst="rect">
            <a:avLst/>
          </a:prstGeom>
        </p:spPr>
      </p:pic>
      <p:sp>
        <p:nvSpPr>
          <p:cNvPr id="24" name="文本框 23"/>
          <p:cNvSpPr txBox="1"/>
          <p:nvPr/>
        </p:nvSpPr>
        <p:spPr>
          <a:xfrm>
            <a:off x="5761990" y="2685415"/>
            <a:ext cx="1488440" cy="398780"/>
          </a:xfrm>
          <a:prstGeom prst="rect">
            <a:avLst/>
          </a:prstGeom>
          <a:noFill/>
        </p:spPr>
        <p:txBody>
          <a:bodyPr wrap="square" rtlCol="0">
            <a:spAutoFit/>
          </a:bodyPr>
          <a:p>
            <a:r>
              <a:rPr lang="en-US" altLang="zh-CN" sz="1000"/>
              <a:t>How many cupcakes have blue frosting</a:t>
            </a:r>
            <a:r>
              <a:rPr lang="zh-CN" altLang="en-US" sz="1000"/>
              <a:t>？</a:t>
            </a:r>
            <a:endParaRPr lang="zh-CN" altLang="en-US" sz="1000"/>
          </a:p>
        </p:txBody>
      </p:sp>
      <p:sp>
        <p:nvSpPr>
          <p:cNvPr id="25" name="文本框 24"/>
          <p:cNvSpPr txBox="1"/>
          <p:nvPr/>
        </p:nvSpPr>
        <p:spPr>
          <a:xfrm>
            <a:off x="7991475" y="2589530"/>
            <a:ext cx="1518285" cy="398780"/>
          </a:xfrm>
          <a:prstGeom prst="rect">
            <a:avLst/>
          </a:prstGeom>
          <a:noFill/>
        </p:spPr>
        <p:txBody>
          <a:bodyPr wrap="square" rtlCol="0">
            <a:spAutoFit/>
          </a:bodyPr>
          <a:p>
            <a:r>
              <a:rPr lang="en-US" altLang="zh-CN" sz="1000"/>
              <a:t>Describing what happening in this photo</a:t>
            </a:r>
            <a:r>
              <a:rPr lang="zh-CN" altLang="en-US" sz="1000"/>
              <a:t>？</a:t>
            </a:r>
            <a:endParaRPr lang="zh-CN" altLang="en-US" sz="1000"/>
          </a:p>
        </p:txBody>
      </p:sp>
      <p:sp>
        <p:nvSpPr>
          <p:cNvPr id="26" name="文本框 25"/>
          <p:cNvSpPr txBox="1"/>
          <p:nvPr/>
        </p:nvSpPr>
        <p:spPr>
          <a:xfrm>
            <a:off x="10290810" y="2685415"/>
            <a:ext cx="1311275" cy="245110"/>
          </a:xfrm>
          <a:prstGeom prst="rect">
            <a:avLst/>
          </a:prstGeom>
          <a:noFill/>
        </p:spPr>
        <p:txBody>
          <a:bodyPr wrap="square" rtlCol="0">
            <a:spAutoFit/>
          </a:bodyPr>
          <a:p>
            <a:r>
              <a:rPr lang="en-US" altLang="zh-CN" sz="1000"/>
              <a:t>Highlight the Beagle</a:t>
            </a:r>
            <a:endParaRPr lang="en-US" altLang="zh-CN" sz="1000"/>
          </a:p>
        </p:txBody>
      </p:sp>
      <p:pic>
        <p:nvPicPr>
          <p:cNvPr id="27" name="图片 26" descr="对话框"/>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2060" y="5019675"/>
            <a:ext cx="1431925" cy="812165"/>
          </a:xfrm>
          <a:prstGeom prst="rect">
            <a:avLst/>
          </a:prstGeom>
        </p:spPr>
      </p:pic>
      <p:sp>
        <p:nvSpPr>
          <p:cNvPr id="28" name="文本框 27"/>
          <p:cNvSpPr txBox="1"/>
          <p:nvPr/>
        </p:nvSpPr>
        <p:spPr>
          <a:xfrm>
            <a:off x="6515735" y="5303520"/>
            <a:ext cx="925195" cy="245110"/>
          </a:xfrm>
          <a:prstGeom prst="rect">
            <a:avLst/>
          </a:prstGeom>
          <a:noFill/>
        </p:spPr>
        <p:txBody>
          <a:bodyPr wrap="square" rtlCol="0">
            <a:spAutoFit/>
          </a:bodyPr>
          <a:p>
            <a:r>
              <a:rPr lang="en-US" altLang="zh-CN" sz="1000"/>
              <a:t>Four </a:t>
            </a:r>
            <a:r>
              <a:rPr lang="en-US" altLang="zh-CN" sz="1000"/>
              <a:t>cupcakes</a:t>
            </a:r>
            <a:endParaRPr lang="en-US" altLang="zh-CN" sz="1000"/>
          </a:p>
        </p:txBody>
      </p:sp>
      <p:sp>
        <p:nvSpPr>
          <p:cNvPr id="30" name="文本框 29"/>
          <p:cNvSpPr txBox="1"/>
          <p:nvPr/>
        </p:nvSpPr>
        <p:spPr>
          <a:xfrm>
            <a:off x="8669655" y="5258435"/>
            <a:ext cx="1237615" cy="398780"/>
          </a:xfrm>
          <a:prstGeom prst="rect">
            <a:avLst/>
          </a:prstGeom>
          <a:noFill/>
        </p:spPr>
        <p:txBody>
          <a:bodyPr wrap="square" rtlCol="0">
            <a:spAutoFit/>
          </a:bodyPr>
          <a:p>
            <a:r>
              <a:rPr lang="en-US" altLang="zh-CN" sz="1000"/>
              <a:t>A mother and her daughter in </a:t>
            </a:r>
            <a:r>
              <a:rPr lang="en-US" altLang="zh-CN" sz="1000"/>
              <a:t>kitchen</a:t>
            </a:r>
            <a:endParaRPr lang="en-US" altLang="zh-CN" sz="1000"/>
          </a:p>
        </p:txBody>
      </p:sp>
      <p:sp>
        <p:nvSpPr>
          <p:cNvPr id="31" name="文本框 30"/>
          <p:cNvSpPr txBox="1"/>
          <p:nvPr/>
        </p:nvSpPr>
        <p:spPr>
          <a:xfrm>
            <a:off x="10636885" y="5303520"/>
            <a:ext cx="1555115" cy="245110"/>
          </a:xfrm>
          <a:prstGeom prst="rect">
            <a:avLst/>
          </a:prstGeom>
          <a:noFill/>
        </p:spPr>
        <p:txBody>
          <a:bodyPr wrap="square" rtlCol="0">
            <a:spAutoFit/>
          </a:bodyPr>
          <a:p>
            <a:r>
              <a:rPr lang="en-US" altLang="zh-CN" sz="1000"/>
              <a:t>Box(348, 258, 507, 699)</a:t>
            </a:r>
            <a:endParaRPr lang="zh-CN" altLang="en-US" sz="1000"/>
          </a:p>
        </p:txBody>
      </p:sp>
      <p:pic>
        <p:nvPicPr>
          <p:cNvPr id="32" name="图片 31" descr="对话框"/>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72500" y="5051425"/>
            <a:ext cx="1431925" cy="812165"/>
          </a:xfrm>
          <a:prstGeom prst="rect">
            <a:avLst/>
          </a:prstGeom>
        </p:spPr>
      </p:pic>
      <p:pic>
        <p:nvPicPr>
          <p:cNvPr id="33" name="图片 32" descr="对话框"/>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9580" y="5015865"/>
            <a:ext cx="1431925" cy="8121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mj-lt"/>
                <a:cs typeface="+mj-lt"/>
              </a:rPr>
              <a:t>Background</a:t>
            </a:r>
            <a:endParaRPr lang="en-US" altLang="zh-CN">
              <a:solidFill>
                <a:schemeClr val="tx1"/>
              </a:solidFill>
              <a:latin typeface="+mj-lt"/>
              <a:cs typeface="+mj-lt"/>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Methods</a:t>
            </a:r>
            <a:endParaRPr lang="en-US" altLang="zh-CN"/>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Benchmarks and results</a:t>
            </a:r>
            <a:endParaRPr lang="en-US" altLang="zh-CN"/>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2" name="圆角矩形 1"/>
          <p:cNvSpPr/>
          <p:nvPr/>
        </p:nvSpPr>
        <p:spPr>
          <a:xfrm>
            <a:off x="1130935" y="2584450"/>
            <a:ext cx="3585210" cy="1380490"/>
          </a:xfrm>
          <a:prstGeom prst="roundRect">
            <a:avLst/>
          </a:prstGeom>
          <a:solidFill>
            <a:schemeClr val="tx2">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a:solidFill>
                  <a:schemeClr val="tx1"/>
                </a:solidFill>
              </a:rPr>
              <a:t>Contributions</a:t>
            </a:r>
            <a:endParaRPr lang="en-US" altLang="zh-CN" sz="2400">
              <a:solidFill>
                <a:schemeClr val="tx1"/>
              </a:solidFill>
            </a:endParaRPr>
          </a:p>
        </p:txBody>
      </p:sp>
      <p:pic>
        <p:nvPicPr>
          <p:cNvPr id="4" name="图片 3" descr="大括号-左"/>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10330" y="1836420"/>
            <a:ext cx="2183765" cy="2875915"/>
          </a:xfrm>
          <a:prstGeom prst="rect">
            <a:avLst/>
          </a:prstGeom>
        </p:spPr>
      </p:pic>
      <p:sp>
        <p:nvSpPr>
          <p:cNvPr id="11" name="圆角矩形 10"/>
          <p:cNvSpPr/>
          <p:nvPr/>
        </p:nvSpPr>
        <p:spPr>
          <a:xfrm>
            <a:off x="5540375" y="1412875"/>
            <a:ext cx="5099685" cy="1123315"/>
          </a:xfrm>
          <a:prstGeom prst="roundRect">
            <a:avLst/>
          </a:prstGeom>
          <a:solidFill>
            <a:schemeClr val="accent1">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This paper propose a two-stage supervised fine-tuning process to enhance the basic interaction capabilities and advanced reasoning capabilities of the GUI Agent, thereby achieving a more comprehensive capability improvement.</a:t>
            </a:r>
            <a:endParaRPr lang="zh-CN" altLang="en-US" sz="1200"/>
          </a:p>
        </p:txBody>
      </p:sp>
      <p:sp>
        <p:nvSpPr>
          <p:cNvPr id="14" name="圆角矩形 13"/>
          <p:cNvSpPr/>
          <p:nvPr/>
        </p:nvSpPr>
        <p:spPr>
          <a:xfrm>
            <a:off x="5577205" y="4026535"/>
            <a:ext cx="5062855" cy="1123315"/>
          </a:xfrm>
          <a:prstGeom prst="roundRect">
            <a:avLst/>
          </a:prstGeom>
          <a:solidFill>
            <a:schemeClr val="accent1">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This paper describes the supervised fine-tuning of the model based on the constructed data to obtain InfiGUIAgent; the system is evaluated on multiple GUI benchmarks, and the results show that its performance is competitive, verifying the effectiveness of the method and data design.</a:t>
            </a:r>
            <a:endParaRPr lang="en-US" altLang="zh-CN"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Methods</a:t>
            </a:r>
            <a:endParaRPr lang="en-US" altLang="zh-CN">
              <a:solidFill>
                <a:schemeClr val="tx1"/>
              </a:solidFill>
              <a:latin typeface="+mj-lt"/>
              <a:cs typeface="+mj-lt"/>
              <a:sym typeface="+mn-ea"/>
            </a:endParaRPr>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Benchmarks and results</a:t>
            </a:r>
            <a:endParaRPr lang="en-US" altLang="zh-CN"/>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2" name="文本框 1"/>
          <p:cNvSpPr txBox="1"/>
          <p:nvPr/>
        </p:nvSpPr>
        <p:spPr>
          <a:xfrm>
            <a:off x="579120" y="1897380"/>
            <a:ext cx="9105900" cy="368300"/>
          </a:xfrm>
          <a:prstGeom prst="rect">
            <a:avLst/>
          </a:prstGeom>
          <a:noFill/>
        </p:spPr>
        <p:txBody>
          <a:bodyPr wrap="square" rtlCol="0" anchor="t">
            <a:spAutoFit/>
          </a:bodyPr>
          <a:p>
            <a:pPr indent="457200"/>
            <a:r>
              <a:rPr lang="en-US" altLang="zh-CN">
                <a:cs typeface="+mn-lt"/>
              </a:rPr>
              <a:t>This paper introduce two-stage supervised fine-tuning strategy for building InfiGUIAgent</a:t>
            </a:r>
            <a:endParaRPr lang="en-US" altLang="zh-CN">
              <a:cs typeface="+mn-lt"/>
            </a:endParaRPr>
          </a:p>
        </p:txBody>
      </p:sp>
      <p:pic>
        <p:nvPicPr>
          <p:cNvPr id="3" name="图片 2"/>
          <p:cNvPicPr>
            <a:picLocks noChangeAspect="1"/>
          </p:cNvPicPr>
          <p:nvPr/>
        </p:nvPicPr>
        <p:blipFill>
          <a:blip r:embed="rId1"/>
          <a:stretch>
            <a:fillRect/>
          </a:stretch>
        </p:blipFill>
        <p:spPr>
          <a:xfrm>
            <a:off x="579120" y="2542540"/>
            <a:ext cx="9105900" cy="35248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Methods</a:t>
            </a:r>
            <a:endParaRPr lang="en-US" altLang="zh-CN">
              <a:solidFill>
                <a:schemeClr val="tx1"/>
              </a:solidFill>
              <a:latin typeface="+mj-lt"/>
              <a:cs typeface="+mj-lt"/>
              <a:sym typeface="+mn-ea"/>
            </a:endParaRPr>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Benchmarks and results</a:t>
            </a:r>
            <a:endParaRPr lang="en-US" altLang="zh-CN"/>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pic>
        <p:nvPicPr>
          <p:cNvPr id="3" name="图片 2"/>
          <p:cNvPicPr>
            <a:picLocks noChangeAspect="1"/>
          </p:cNvPicPr>
          <p:nvPr/>
        </p:nvPicPr>
        <p:blipFill>
          <a:blip r:embed="rId1"/>
          <a:srcRect r="70070"/>
          <a:stretch>
            <a:fillRect/>
          </a:stretch>
        </p:blipFill>
        <p:spPr>
          <a:xfrm>
            <a:off x="6256655" y="1856740"/>
            <a:ext cx="2725420" cy="3524885"/>
          </a:xfrm>
          <a:prstGeom prst="rect">
            <a:avLst/>
          </a:prstGeom>
        </p:spPr>
      </p:pic>
      <p:sp>
        <p:nvSpPr>
          <p:cNvPr id="4" name="文本框 3"/>
          <p:cNvSpPr txBox="1"/>
          <p:nvPr/>
        </p:nvSpPr>
        <p:spPr>
          <a:xfrm>
            <a:off x="789940" y="1813560"/>
            <a:ext cx="5305425" cy="2306955"/>
          </a:xfrm>
          <a:prstGeom prst="rect">
            <a:avLst/>
          </a:prstGeom>
          <a:noFill/>
        </p:spPr>
        <p:txBody>
          <a:bodyPr wrap="square" rtlCol="0">
            <a:spAutoFit/>
          </a:bodyPr>
          <a:p>
            <a:pPr indent="457200" algn="just"/>
            <a:r>
              <a:rPr lang="en-US" altLang="zh-CN">
                <a:latin typeface="+mj-lt"/>
                <a:cs typeface="+mj-lt"/>
              </a:rPr>
              <a:t>Considering the complexity of GUIs, which involve diverse data formats such as HTML code, highresolution interfaces cluttered with small icons and text, general MLLMs lack fundamental abilities in both understanding GUI and grounding the actions.</a:t>
            </a:r>
            <a:endParaRPr lang="en-US" altLang="zh-CN">
              <a:latin typeface="+mj-lt"/>
              <a:cs typeface="+mj-lt"/>
            </a:endParaRPr>
          </a:p>
          <a:p>
            <a:pPr indent="457200" algn="just"/>
            <a:r>
              <a:rPr lang="en-US" altLang="zh-CN">
                <a:latin typeface="+mj-lt"/>
                <a:cs typeface="+mj-lt"/>
              </a:rPr>
              <a:t> To address this, they first collected a range of existing visual-language and GUI datasets for supervised fine-tuning in stage 1.</a:t>
            </a:r>
            <a:endParaRPr lang="zh-CN" altLang="en-US">
              <a:latin typeface="+mj-lt"/>
              <a:cs typeface="+mj-lt"/>
            </a:endParaRPr>
          </a:p>
        </p:txBody>
      </p:sp>
      <p:sp>
        <p:nvSpPr>
          <p:cNvPr id="5" name="文本框 4"/>
          <p:cNvSpPr txBox="1"/>
          <p:nvPr/>
        </p:nvSpPr>
        <p:spPr>
          <a:xfrm>
            <a:off x="6857365" y="5381625"/>
            <a:ext cx="1524000" cy="328930"/>
          </a:xfrm>
          <a:prstGeom prst="rect">
            <a:avLst/>
          </a:prstGeom>
          <a:noFill/>
        </p:spPr>
        <p:txBody>
          <a:bodyPr wrap="square" rtlCol="0">
            <a:noAutofit/>
          </a:bodyPr>
          <a:p>
            <a:r>
              <a:rPr lang="en-US" altLang="zh-CN" sz="1400">
                <a:latin typeface="Times New Roman" panose="02020603050405020304" charset="0"/>
                <a:cs typeface="Times New Roman" panose="02020603050405020304" charset="0"/>
                <a:sym typeface="+mn-ea"/>
              </a:rPr>
              <a:t>Main of five parts.</a:t>
            </a:r>
            <a:endParaRPr lang="zh-CN" altLang="en-US" sz="1400">
              <a:latin typeface="Times New Roman" panose="02020603050405020304" charset="0"/>
              <a:cs typeface="Times New Roman" panose="02020603050405020304" charset="0"/>
            </a:endParaRPr>
          </a:p>
          <a:p>
            <a:endParaRPr lang="zh-CN"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Methods</a:t>
            </a:r>
            <a:endParaRPr lang="en-US" altLang="zh-CN">
              <a:solidFill>
                <a:schemeClr val="tx1"/>
              </a:solidFill>
              <a:latin typeface="+mj-lt"/>
              <a:cs typeface="+mj-lt"/>
              <a:sym typeface="+mn-ea"/>
            </a:endParaRPr>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Benchmarks and results</a:t>
            </a:r>
            <a:endParaRPr lang="en-US" altLang="zh-CN"/>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pic>
        <p:nvPicPr>
          <p:cNvPr id="3" name="图片 2"/>
          <p:cNvPicPr>
            <a:picLocks noChangeAspect="1"/>
          </p:cNvPicPr>
          <p:nvPr/>
        </p:nvPicPr>
        <p:blipFill>
          <a:blip r:embed="rId1"/>
          <a:srcRect l="30823"/>
          <a:stretch>
            <a:fillRect/>
          </a:stretch>
        </p:blipFill>
        <p:spPr>
          <a:xfrm>
            <a:off x="5753100" y="1846580"/>
            <a:ext cx="6299200" cy="3524885"/>
          </a:xfrm>
          <a:prstGeom prst="rect">
            <a:avLst/>
          </a:prstGeom>
        </p:spPr>
      </p:pic>
      <p:sp>
        <p:nvSpPr>
          <p:cNvPr id="4" name="文本框 3"/>
          <p:cNvSpPr txBox="1"/>
          <p:nvPr/>
        </p:nvSpPr>
        <p:spPr>
          <a:xfrm>
            <a:off x="581660" y="1645920"/>
            <a:ext cx="5171440" cy="3692525"/>
          </a:xfrm>
          <a:prstGeom prst="rect">
            <a:avLst/>
          </a:prstGeom>
          <a:noFill/>
        </p:spPr>
        <p:txBody>
          <a:bodyPr wrap="square" rtlCol="0">
            <a:spAutoFit/>
          </a:bodyPr>
          <a:p>
            <a:pPr indent="457200" algn="just"/>
            <a:r>
              <a:rPr lang="en-US" altLang="zh-CN">
                <a:cs typeface="+mn-lt"/>
              </a:rPr>
              <a:t>stage2. introduces native advanced reasoning, employed during both training and inference. This stage follows a cyclical process at each step, consisting of Reflection, Hierarchical Reasoning (strategic and tactical layers), Action, and Expectation.</a:t>
            </a:r>
            <a:endParaRPr lang="en-US" altLang="zh-CN">
              <a:cs typeface="+mn-lt"/>
            </a:endParaRPr>
          </a:p>
          <a:p>
            <a:pPr indent="457200" algn="just"/>
            <a:r>
              <a:rPr lang="en-US" altLang="zh-CN">
                <a:cs typeface="+mn-lt"/>
              </a:rPr>
              <a:t> </a:t>
            </a:r>
            <a:endParaRPr lang="en-US" altLang="zh-CN">
              <a:cs typeface="+mn-lt"/>
            </a:endParaRPr>
          </a:p>
          <a:p>
            <a:pPr indent="457200" algn="just"/>
            <a:r>
              <a:rPr lang="en-US" altLang="zh-CN">
                <a:cs typeface="+mn-lt"/>
              </a:rPr>
              <a:t>Each step receives the overall task, the history of previous screenshots and reasoning, and the current environment as input. </a:t>
            </a:r>
            <a:endParaRPr lang="en-US" altLang="zh-CN">
              <a:cs typeface="+mn-lt"/>
            </a:endParaRPr>
          </a:p>
          <a:p>
            <a:pPr indent="457200" algn="just"/>
            <a:r>
              <a:rPr lang="en-US" altLang="zh-CN">
                <a:cs typeface="+mn-lt"/>
              </a:rPr>
              <a:t>Reflection assesses the previous action’s outcome against its expectation, while Expectation predicts the outcome of the current action for subsequent reflection.</a:t>
            </a:r>
            <a:endParaRPr lang="en-US" altLang="zh-CN">
              <a:cs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Methods</a:t>
            </a:r>
            <a:endParaRPr lang="en-US" altLang="zh-CN">
              <a:sym typeface="+mn-ea"/>
            </a:endParaRPr>
          </a:p>
        </p:txBody>
      </p:sp>
      <p:sp>
        <p:nvSpPr>
          <p:cNvPr id="8" name="矩形 7"/>
          <p:cNvSpPr/>
          <p:nvPr/>
        </p:nvSpPr>
        <p:spPr>
          <a:xfrm>
            <a:off x="6256655" y="0"/>
            <a:ext cx="2998470"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Benchmarks and results</a:t>
            </a:r>
            <a:endParaRPr lang="en-US" altLang="zh-CN">
              <a:solidFill>
                <a:schemeClr val="tx1"/>
              </a:solidFill>
              <a:latin typeface="+mj-lt"/>
              <a:cs typeface="+mj-lt"/>
              <a:sym typeface="+mn-ea"/>
            </a:endParaRPr>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5" name="Text 3"/>
          <p:cNvSpPr/>
          <p:nvPr/>
        </p:nvSpPr>
        <p:spPr>
          <a:xfrm>
            <a:off x="609600" y="1163320"/>
            <a:ext cx="10972800" cy="457200"/>
          </a:xfrm>
          <a:prstGeom prst="rect">
            <a:avLst/>
          </a:prstGeom>
          <a:noFill/>
        </p:spPr>
        <p:txBody>
          <a:bodyPr wrap="square" rtlCol="0" anchor="ctr"/>
          <a:lstStyle/>
          <a:p>
            <a:pPr marL="0" indent="0">
              <a:buNone/>
            </a:pPr>
            <a:r>
              <a:rPr lang="en-US" sz="2800" b="1" dirty="0">
                <a:solidFill>
                  <a:srgbClr val="111827"/>
                </a:solidFill>
                <a:latin typeface="Calibri" panose="020F0502020204030204" charset="0"/>
                <a:ea typeface="Calibri" panose="020F0502020204030204" pitchFamily="34" charset="-122"/>
                <a:cs typeface="Calibri" panose="020F0502020204030204" pitchFamily="34" charset="-120"/>
              </a:rPr>
              <a:t>How do we measure a GUI agent?</a:t>
            </a:r>
            <a:endParaRPr lang="en-US" sz="2800" dirty="0"/>
          </a:p>
        </p:txBody>
      </p:sp>
      <p:sp>
        <p:nvSpPr>
          <p:cNvPr id="2" name="Shape 5"/>
          <p:cNvSpPr/>
          <p:nvPr>
            <p:custDataLst>
              <p:tags r:id="rId1"/>
            </p:custDataLst>
          </p:nvPr>
        </p:nvSpPr>
        <p:spPr>
          <a:xfrm>
            <a:off x="731520" y="1920240"/>
            <a:ext cx="5669280" cy="457200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1" name="Text 6"/>
          <p:cNvSpPr/>
          <p:nvPr>
            <p:custDataLst>
              <p:tags r:id="rId2"/>
            </p:custDataLst>
          </p:nvPr>
        </p:nvSpPr>
        <p:spPr>
          <a:xfrm>
            <a:off x="1051560" y="2148840"/>
            <a:ext cx="5029200" cy="320040"/>
          </a:xfrm>
          <a:prstGeom prst="rect">
            <a:avLst/>
          </a:prstGeom>
          <a:noFill/>
        </p:spPr>
        <p:txBody>
          <a:bodyPr wrap="square" rtlCol="0" anchor="ctr"/>
          <a:lstStyle/>
          <a:p>
            <a:pPr marL="0" indent="0">
              <a:buNone/>
            </a:pPr>
            <a:r>
              <a:rPr lang="en-US" sz="1600" b="1" dirty="0">
                <a:solidFill>
                  <a:srgbClr val="111827"/>
                </a:solidFill>
                <a:latin typeface="Calibri" panose="020F0502020204030204" charset="0"/>
                <a:ea typeface="Calibri" panose="020F0502020204030204" pitchFamily="34" charset="-122"/>
                <a:cs typeface="Calibri" panose="020F0502020204030204" pitchFamily="34" charset="-120"/>
              </a:rPr>
              <a:t>ScreenSpot (GUI grounding)</a:t>
            </a:r>
            <a:endParaRPr lang="en-US" sz="1600" dirty="0"/>
          </a:p>
        </p:txBody>
      </p:sp>
      <p:sp>
        <p:nvSpPr>
          <p:cNvPr id="12" name="Text 7"/>
          <p:cNvSpPr/>
          <p:nvPr>
            <p:custDataLst>
              <p:tags r:id="rId3"/>
            </p:custDataLst>
          </p:nvPr>
        </p:nvSpPr>
        <p:spPr>
          <a:xfrm>
            <a:off x="1051560" y="2578608"/>
            <a:ext cx="5029200" cy="3703320"/>
          </a:xfrm>
          <a:prstGeom prst="rect">
            <a:avLst/>
          </a:prstGeom>
          <a:noFill/>
        </p:spPr>
        <p:txBody>
          <a:bodyPr wrap="square" rtlCol="0" anchor="t"/>
          <a:lstStyle/>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 Task: locate the correct UI element given an instruction</a:t>
            </a:r>
            <a:endParaRPr lang="en-US" sz="1400" dirty="0"/>
          </a:p>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 Covers multiple platforms (mobile, desktop, web)</a:t>
            </a:r>
            <a:endParaRPr lang="en-US" sz="1400" dirty="0"/>
          </a:p>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 Reports accuracy for text targets vs icon targets</a:t>
            </a:r>
            <a:endParaRPr lang="en-US" sz="1400" dirty="0"/>
          </a:p>
          <a:p>
            <a:pPr marL="0" indent="0">
              <a:lnSpc>
                <a:spcPct val="120000"/>
              </a:lnSpc>
              <a:buNone/>
            </a:pPr>
            <a:endParaRPr lang="en-US" sz="1400" dirty="0"/>
          </a:p>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Metric: Accuracy (%) — did we click the right element?</a:t>
            </a:r>
            <a:endParaRPr lang="en-US" sz="1400" dirty="0"/>
          </a:p>
        </p:txBody>
      </p:sp>
      <p:sp>
        <p:nvSpPr>
          <p:cNvPr id="13" name="Shape 8"/>
          <p:cNvSpPr/>
          <p:nvPr>
            <p:custDataLst>
              <p:tags r:id="rId4"/>
            </p:custDataLst>
          </p:nvPr>
        </p:nvSpPr>
        <p:spPr>
          <a:xfrm>
            <a:off x="6629400" y="1920240"/>
            <a:ext cx="4800600" cy="457200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4" name="Text 9"/>
          <p:cNvSpPr/>
          <p:nvPr>
            <p:custDataLst>
              <p:tags r:id="rId5"/>
            </p:custDataLst>
          </p:nvPr>
        </p:nvSpPr>
        <p:spPr>
          <a:xfrm>
            <a:off x="6949440" y="2148840"/>
            <a:ext cx="4160520" cy="320040"/>
          </a:xfrm>
          <a:prstGeom prst="rect">
            <a:avLst/>
          </a:prstGeom>
          <a:noFill/>
        </p:spPr>
        <p:txBody>
          <a:bodyPr wrap="square" rtlCol="0" anchor="ctr"/>
          <a:lstStyle/>
          <a:p>
            <a:pPr marL="0" indent="0">
              <a:buNone/>
            </a:pPr>
            <a:r>
              <a:rPr lang="en-US" sz="1600" b="1" dirty="0">
                <a:solidFill>
                  <a:srgbClr val="111827"/>
                </a:solidFill>
                <a:latin typeface="Calibri" panose="020F0502020204030204" charset="0"/>
                <a:ea typeface="Calibri" panose="020F0502020204030204" pitchFamily="34" charset="-122"/>
                <a:cs typeface="Calibri" panose="020F0502020204030204" pitchFamily="34" charset="-120"/>
              </a:rPr>
              <a:t>AndroidWorld (end-to-end tasks)</a:t>
            </a:r>
            <a:endParaRPr lang="en-US" sz="1600" dirty="0"/>
          </a:p>
        </p:txBody>
      </p:sp>
      <p:sp>
        <p:nvSpPr>
          <p:cNvPr id="15" name="Text 10"/>
          <p:cNvSpPr/>
          <p:nvPr>
            <p:custDataLst>
              <p:tags r:id="rId6"/>
            </p:custDataLst>
          </p:nvPr>
        </p:nvSpPr>
        <p:spPr>
          <a:xfrm>
            <a:off x="6949440" y="2578608"/>
            <a:ext cx="4160520" cy="3703320"/>
          </a:xfrm>
          <a:prstGeom prst="rect">
            <a:avLst/>
          </a:prstGeom>
          <a:noFill/>
        </p:spPr>
        <p:txBody>
          <a:bodyPr wrap="square" rtlCol="0" anchor="t"/>
          <a:lstStyle/>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 Task: complete multi-step app tasks in a functional Android environment</a:t>
            </a:r>
            <a:endParaRPr lang="en-US" sz="1400" dirty="0"/>
          </a:p>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 Provides reward signals for 116 programmatic tasks across 20 real-world apps</a:t>
            </a:r>
            <a:endParaRPr lang="en-US" sz="1400" dirty="0"/>
          </a:p>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 In the paper, agents operate on raw screenshots (no annotated Set-of-Marks)</a:t>
            </a:r>
            <a:endParaRPr lang="en-US" sz="1400" dirty="0"/>
          </a:p>
          <a:p>
            <a:pPr marL="0" indent="0">
              <a:lnSpc>
                <a:spcPct val="120000"/>
              </a:lnSpc>
              <a:buNone/>
            </a:pPr>
            <a:endParaRPr lang="en-US" sz="1400" dirty="0"/>
          </a:p>
          <a:p>
            <a:pPr marL="0" indent="0">
              <a:lnSpc>
                <a:spcPct val="120000"/>
              </a:lnSpc>
              <a:buNone/>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Metric: Success Rate (SR) — fraction of tasks completed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Methods</a:t>
            </a:r>
            <a:endParaRPr lang="en-US" altLang="zh-CN">
              <a:sym typeface="+mn-ea"/>
            </a:endParaRPr>
          </a:p>
        </p:txBody>
      </p:sp>
      <p:sp>
        <p:nvSpPr>
          <p:cNvPr id="8" name="矩形 7"/>
          <p:cNvSpPr/>
          <p:nvPr/>
        </p:nvSpPr>
        <p:spPr>
          <a:xfrm>
            <a:off x="6256655" y="0"/>
            <a:ext cx="2998470"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Benchmarks and results</a:t>
            </a:r>
            <a:endParaRPr lang="en-US" altLang="zh-CN">
              <a:solidFill>
                <a:schemeClr val="tx1"/>
              </a:solidFill>
              <a:latin typeface="+mj-lt"/>
              <a:cs typeface="+mj-lt"/>
              <a:sym typeface="+mn-ea"/>
            </a:endParaRPr>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3" name="Text 3"/>
          <p:cNvSpPr/>
          <p:nvPr/>
        </p:nvSpPr>
        <p:spPr>
          <a:xfrm>
            <a:off x="731520" y="1150620"/>
            <a:ext cx="10972800" cy="457200"/>
          </a:xfrm>
          <a:prstGeom prst="rect">
            <a:avLst/>
          </a:prstGeom>
          <a:noFill/>
        </p:spPr>
        <p:txBody>
          <a:bodyPr wrap="square" rtlCol="0" anchor="ctr"/>
          <a:lstStyle/>
          <a:p>
            <a:pPr marL="0" indent="0">
              <a:buNone/>
            </a:pPr>
            <a:r>
              <a:rPr lang="en-US" sz="2400" b="1" dirty="0">
                <a:solidFill>
                  <a:srgbClr val="111827"/>
                </a:solidFill>
                <a:latin typeface="Calibri" panose="020F0502020204030204" charset="0"/>
                <a:ea typeface="Calibri" panose="020F0502020204030204" pitchFamily="34" charset="-122"/>
                <a:cs typeface="Calibri" panose="020F0502020204030204" pitchFamily="34" charset="-120"/>
              </a:rPr>
              <a:t>ScreenSpot (Avg. Accuracy): InfiGUIAgent-2B leads open models</a:t>
            </a:r>
            <a:endParaRPr lang="en-US" sz="2400" dirty="0"/>
          </a:p>
        </p:txBody>
      </p:sp>
      <p:graphicFrame>
        <p:nvGraphicFramePr>
          <p:cNvPr id="4" name="Chart 0"/>
          <p:cNvGraphicFramePr/>
          <p:nvPr/>
        </p:nvGraphicFramePr>
        <p:xfrm>
          <a:off x="5871210" y="1607820"/>
          <a:ext cx="5364480" cy="4095750"/>
        </p:xfrm>
        <a:graphic>
          <a:graphicData uri="http://schemas.openxmlformats.org/drawingml/2006/chart">
            <c:chart xmlns:c="http://schemas.openxmlformats.org/drawingml/2006/chart" xmlns:r="http://schemas.openxmlformats.org/officeDocument/2006/relationships" r:id="rId1"/>
          </a:graphicData>
        </a:graphic>
      </p:graphicFrame>
      <p:sp>
        <p:nvSpPr>
          <p:cNvPr id="16" name="Shape 4"/>
          <p:cNvSpPr/>
          <p:nvPr/>
        </p:nvSpPr>
        <p:spPr>
          <a:xfrm>
            <a:off x="731520" y="1801495"/>
            <a:ext cx="3975735" cy="3708400"/>
          </a:xfrm>
          <a:prstGeom prst="roundRect">
            <a:avLst/>
          </a:prstGeom>
          <a:solidFill>
            <a:srgbClr val="FFFFFF"/>
          </a:solidFill>
          <a:ln w="12700">
            <a:solidFill>
              <a:srgbClr val="E5E7EB"/>
            </a:solidFill>
            <a:prstDash val="solid"/>
          </a:ln>
          <a:effectLst>
            <a:outerShdw blurRad="38100" dist="25400" dir="2700000" algn="bl" rotWithShape="0">
              <a:srgbClr val="000000">
                <a:alpha val="10000"/>
              </a:srgbClr>
            </a:outerShdw>
          </a:effectLst>
        </p:spPr>
        <p:txBody>
          <a:bodyPr/>
          <a:p>
            <a:endParaRPr lang="zh-CN" altLang="en-US"/>
          </a:p>
        </p:txBody>
      </p:sp>
      <p:sp>
        <p:nvSpPr>
          <p:cNvPr id="17" name="Text 5"/>
          <p:cNvSpPr/>
          <p:nvPr/>
        </p:nvSpPr>
        <p:spPr>
          <a:xfrm>
            <a:off x="875665" y="2428240"/>
            <a:ext cx="4251960" cy="274320"/>
          </a:xfrm>
          <a:prstGeom prst="rect">
            <a:avLst/>
          </a:prstGeom>
          <a:noFill/>
        </p:spPr>
        <p:txBody>
          <a:bodyPr wrap="square" rtlCol="0" anchor="ctr"/>
          <a:lstStyle/>
          <a:p>
            <a:pPr marL="0" indent="0">
              <a:buNone/>
            </a:pPr>
            <a:r>
              <a:rPr lang="en-US" sz="1200" b="1" dirty="0">
                <a:solidFill>
                  <a:srgbClr val="6B7280"/>
                </a:solidFill>
                <a:latin typeface="Calibri" panose="020F0502020204030204" charset="0"/>
                <a:ea typeface="Calibri" panose="020F0502020204030204" pitchFamily="34" charset="-122"/>
                <a:cs typeface="Calibri" panose="020F0502020204030204" pitchFamily="34" charset="-120"/>
              </a:rPr>
              <a:t>Paper table </a:t>
            </a:r>
            <a:endParaRPr lang="en-US" sz="1200" dirty="0"/>
          </a:p>
        </p:txBody>
      </p:sp>
      <p:pic>
        <p:nvPicPr>
          <p:cNvPr id="19" name="图片 18"/>
          <p:cNvPicPr>
            <a:picLocks noChangeAspect="1"/>
          </p:cNvPicPr>
          <p:nvPr/>
        </p:nvPicPr>
        <p:blipFill>
          <a:blip r:embed="rId2"/>
          <a:stretch>
            <a:fillRect/>
          </a:stretch>
        </p:blipFill>
        <p:spPr>
          <a:xfrm>
            <a:off x="804545" y="3085465"/>
            <a:ext cx="3758565" cy="2101215"/>
          </a:xfrm>
          <a:prstGeom prst="rect">
            <a:avLst/>
          </a:prstGeom>
        </p:spPr>
      </p:pic>
      <p:sp>
        <p:nvSpPr>
          <p:cNvPr id="2" name="文本框 1"/>
          <p:cNvSpPr txBox="1"/>
          <p:nvPr/>
        </p:nvSpPr>
        <p:spPr>
          <a:xfrm>
            <a:off x="731520" y="5708650"/>
            <a:ext cx="4434840" cy="368300"/>
          </a:xfrm>
          <a:prstGeom prst="rect">
            <a:avLst/>
          </a:prstGeom>
          <a:noFill/>
        </p:spPr>
        <p:txBody>
          <a:bodyPr wrap="square" rtlCol="0">
            <a:spAutoFit/>
          </a:bodyPr>
          <a:p>
            <a:r>
              <a:rPr lang="en-US" altLang="zh-CN"/>
              <a:t>InfiGUIAgent-2B superior in average metrics</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Methods</a:t>
            </a:r>
            <a:endParaRPr lang="en-US" altLang="zh-CN">
              <a:sym typeface="+mn-ea"/>
            </a:endParaRPr>
          </a:p>
        </p:txBody>
      </p:sp>
      <p:sp>
        <p:nvSpPr>
          <p:cNvPr id="8" name="矩形 7"/>
          <p:cNvSpPr/>
          <p:nvPr/>
        </p:nvSpPr>
        <p:spPr>
          <a:xfrm>
            <a:off x="6256655" y="0"/>
            <a:ext cx="2998470"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Benchmarks and results</a:t>
            </a:r>
            <a:endParaRPr lang="en-US" altLang="zh-CN">
              <a:solidFill>
                <a:schemeClr val="tx1"/>
              </a:solidFill>
              <a:latin typeface="+mj-lt"/>
              <a:cs typeface="+mj-lt"/>
              <a:sym typeface="+mn-ea"/>
            </a:endParaRPr>
          </a:p>
        </p:txBody>
      </p:sp>
      <p:sp>
        <p:nvSpPr>
          <p:cNvPr id="9" name="矩形 8"/>
          <p:cNvSpPr/>
          <p:nvPr/>
        </p:nvSpPr>
        <p:spPr>
          <a:xfrm>
            <a:off x="9255125" y="0"/>
            <a:ext cx="293687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Conclusion</a:t>
            </a:r>
            <a:endParaRPr lang="en-US" altLang="zh-CN"/>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5" name="Text 3"/>
          <p:cNvSpPr/>
          <p:nvPr/>
        </p:nvSpPr>
        <p:spPr>
          <a:xfrm>
            <a:off x="731520" y="1061720"/>
            <a:ext cx="10972800" cy="457200"/>
          </a:xfrm>
          <a:prstGeom prst="rect">
            <a:avLst/>
          </a:prstGeom>
          <a:noFill/>
        </p:spPr>
        <p:txBody>
          <a:bodyPr wrap="square" rtlCol="0" anchor="ctr"/>
          <a:lstStyle/>
          <a:p>
            <a:pPr marL="0" indent="0">
              <a:buNone/>
            </a:pPr>
            <a:r>
              <a:rPr lang="en-US" sz="2400" b="1" dirty="0">
                <a:solidFill>
                  <a:srgbClr val="111827"/>
                </a:solidFill>
                <a:latin typeface="Calibri" panose="020F0502020204030204" charset="0"/>
                <a:ea typeface="Calibri" panose="020F0502020204030204" pitchFamily="34" charset="-122"/>
                <a:cs typeface="Calibri" panose="020F0502020204030204" pitchFamily="34" charset="-120"/>
              </a:rPr>
              <a:t>AndroidWorld SR is still low — but Stage 2 reasoning matters</a:t>
            </a:r>
            <a:endParaRPr lang="en-US" sz="2400" dirty="0"/>
          </a:p>
        </p:txBody>
      </p:sp>
      <p:graphicFrame>
        <p:nvGraphicFramePr>
          <p:cNvPr id="2" name="Chart 0"/>
          <p:cNvGraphicFramePr/>
          <p:nvPr/>
        </p:nvGraphicFramePr>
        <p:xfrm>
          <a:off x="4959985" y="1518920"/>
          <a:ext cx="6583680" cy="2743200"/>
        </p:xfrm>
        <a:graphic>
          <a:graphicData uri="http://schemas.openxmlformats.org/drawingml/2006/chart">
            <c:chart xmlns:c="http://schemas.openxmlformats.org/drawingml/2006/chart" xmlns:r="http://schemas.openxmlformats.org/officeDocument/2006/relationships" r:id="rId1"/>
          </a:graphicData>
        </a:graphic>
      </p:graphicFrame>
      <p:sp>
        <p:nvSpPr>
          <p:cNvPr id="12" name="Shape 4"/>
          <p:cNvSpPr/>
          <p:nvPr>
            <p:custDataLst>
              <p:tags r:id="rId2"/>
            </p:custDataLst>
          </p:nvPr>
        </p:nvSpPr>
        <p:spPr>
          <a:xfrm>
            <a:off x="657860" y="1543050"/>
            <a:ext cx="4003040" cy="2810510"/>
          </a:xfrm>
          <a:prstGeom prst="roundRect">
            <a:avLst/>
          </a:prstGeom>
          <a:solidFill>
            <a:srgbClr val="FFFFFF"/>
          </a:solidFill>
          <a:ln w="12700">
            <a:solidFill>
              <a:srgbClr val="E5E7EB"/>
            </a:solidFill>
            <a:prstDash val="solid"/>
          </a:ln>
        </p:spPr>
        <p:txBody>
          <a:bodyPr/>
          <a:p>
            <a:endParaRPr lang="zh-CN" altLang="en-US"/>
          </a:p>
        </p:txBody>
      </p:sp>
      <p:sp>
        <p:nvSpPr>
          <p:cNvPr id="21" name="Text 5"/>
          <p:cNvSpPr/>
          <p:nvPr/>
        </p:nvSpPr>
        <p:spPr>
          <a:xfrm>
            <a:off x="916940" y="1835150"/>
            <a:ext cx="4251960" cy="274320"/>
          </a:xfrm>
          <a:prstGeom prst="rect">
            <a:avLst/>
          </a:prstGeom>
          <a:noFill/>
        </p:spPr>
        <p:txBody>
          <a:bodyPr wrap="square" rtlCol="0" anchor="ctr"/>
          <a:lstStyle/>
          <a:p>
            <a:pPr marL="0" indent="0">
              <a:buNone/>
            </a:pPr>
            <a:r>
              <a:rPr lang="en-US" sz="1200" b="1" dirty="0">
                <a:solidFill>
                  <a:srgbClr val="6B7280"/>
                </a:solidFill>
                <a:latin typeface="Calibri" panose="020F0502020204030204" charset="0"/>
                <a:ea typeface="Calibri" panose="020F0502020204030204" pitchFamily="34" charset="-122"/>
                <a:cs typeface="Calibri" panose="020F0502020204030204" pitchFamily="34" charset="-120"/>
              </a:rPr>
              <a:t>Paper table </a:t>
            </a:r>
            <a:endParaRPr lang="en-US" sz="1200" dirty="0"/>
          </a:p>
        </p:txBody>
      </p:sp>
      <p:pic>
        <p:nvPicPr>
          <p:cNvPr id="22" name="图片 21"/>
          <p:cNvPicPr>
            <a:picLocks noChangeAspect="1"/>
          </p:cNvPicPr>
          <p:nvPr/>
        </p:nvPicPr>
        <p:blipFill>
          <a:blip r:embed="rId3"/>
          <a:stretch>
            <a:fillRect/>
          </a:stretch>
        </p:blipFill>
        <p:spPr>
          <a:xfrm>
            <a:off x="868680" y="2296795"/>
            <a:ext cx="3581400" cy="1733550"/>
          </a:xfrm>
          <a:prstGeom prst="rect">
            <a:avLst/>
          </a:prstGeom>
        </p:spPr>
      </p:pic>
      <p:sp>
        <p:nvSpPr>
          <p:cNvPr id="3" name="文本框 2"/>
          <p:cNvSpPr txBox="1"/>
          <p:nvPr/>
        </p:nvSpPr>
        <p:spPr>
          <a:xfrm>
            <a:off x="731520" y="4353560"/>
            <a:ext cx="6350000" cy="583565"/>
          </a:xfrm>
          <a:prstGeom prst="rect">
            <a:avLst/>
          </a:prstGeom>
        </p:spPr>
        <p:txBody>
          <a:bodyPr wrap="square">
            <a:spAutoFit/>
          </a:bodyPr>
          <a:p>
            <a:pPr marL="0" indent="0"/>
            <a:r>
              <a:rPr lang="en-US" altLang="zh-CN" sz="1600" b="0" i="0">
                <a:solidFill>
                  <a:srgbClr val="3C4043"/>
                </a:solidFill>
                <a:latin typeface="Times New Roman" panose="02020603050405020304" charset="0"/>
                <a:ea typeface="Roboto"/>
                <a:cs typeface="Times New Roman" panose="02020603050405020304" charset="0"/>
              </a:rPr>
              <a:t>Although the existing methods have relatively low metrics, </a:t>
            </a:r>
            <a:r>
              <a:rPr lang="en-US" altLang="zh-CN" sz="1600">
                <a:latin typeface="Times New Roman" panose="02020603050405020304" charset="0"/>
                <a:cs typeface="Times New Roman" panose="02020603050405020304" charset="0"/>
                <a:sym typeface="+mn-ea"/>
              </a:rPr>
              <a:t>InfiGUIAgent-2B superior in average metrics</a:t>
            </a:r>
            <a:endParaRPr lang="en-US" altLang="zh-CN" sz="1600" b="0" i="0">
              <a:solidFill>
                <a:srgbClr val="3C4043"/>
              </a:solidFill>
              <a:latin typeface="Times New Roman" panose="02020603050405020304" charset="0"/>
              <a:ea typeface="Roboto"/>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2415" y="0"/>
            <a:ext cx="299529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Background</a:t>
            </a:r>
            <a:endParaRPr lang="en-US" altLang="zh-CN">
              <a:sym typeface="+mn-ea"/>
            </a:endParaRPr>
          </a:p>
        </p:txBody>
      </p:sp>
      <p:sp>
        <p:nvSpPr>
          <p:cNvPr id="7" name="矩形 6"/>
          <p:cNvSpPr/>
          <p:nvPr/>
        </p:nvSpPr>
        <p:spPr>
          <a:xfrm>
            <a:off x="3267710" y="0"/>
            <a:ext cx="2988945"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Methods</a:t>
            </a:r>
            <a:endParaRPr lang="en-US" altLang="zh-CN">
              <a:sym typeface="+mn-ea"/>
            </a:endParaRPr>
          </a:p>
        </p:txBody>
      </p:sp>
      <p:sp>
        <p:nvSpPr>
          <p:cNvPr id="8" name="矩形 7"/>
          <p:cNvSpPr/>
          <p:nvPr/>
        </p:nvSpPr>
        <p:spPr>
          <a:xfrm>
            <a:off x="6256655" y="0"/>
            <a:ext cx="2998470" cy="970280"/>
          </a:xfrm>
          <a:prstGeom prst="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ym typeface="+mn-ea"/>
              </a:rPr>
              <a:t>Benchmarks and results</a:t>
            </a:r>
            <a:endParaRPr lang="en-US" altLang="zh-CN">
              <a:sym typeface="+mn-ea"/>
            </a:endParaRPr>
          </a:p>
        </p:txBody>
      </p:sp>
      <p:sp>
        <p:nvSpPr>
          <p:cNvPr id="9" name="矩形 8"/>
          <p:cNvSpPr/>
          <p:nvPr/>
        </p:nvSpPr>
        <p:spPr>
          <a:xfrm>
            <a:off x="9255125" y="0"/>
            <a:ext cx="2936875" cy="970280"/>
          </a:xfrm>
          <a:prstGeom prst="rect">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a:solidFill>
                  <a:schemeClr val="tx1"/>
                </a:solidFill>
                <a:latin typeface="+mj-lt"/>
                <a:cs typeface="+mj-lt"/>
                <a:sym typeface="+mn-ea"/>
              </a:rPr>
              <a:t>Conclusion</a:t>
            </a:r>
            <a:endParaRPr lang="en-US" altLang="zh-CN">
              <a:solidFill>
                <a:schemeClr val="tx1"/>
              </a:solidFill>
              <a:latin typeface="+mj-lt"/>
              <a:cs typeface="+mj-lt"/>
              <a:sym typeface="+mn-ea"/>
            </a:endParaRPr>
          </a:p>
        </p:txBody>
      </p:sp>
      <p:sp>
        <p:nvSpPr>
          <p:cNvPr id="10" name="Shape 0"/>
          <p:cNvSpPr/>
          <p:nvPr/>
        </p:nvSpPr>
        <p:spPr>
          <a:xfrm>
            <a:off x="0" y="0"/>
            <a:ext cx="269875" cy="6858000"/>
          </a:xfrm>
          <a:prstGeom prst="rect">
            <a:avLst/>
          </a:prstGeom>
          <a:solidFill>
            <a:srgbClr val="2563EB"/>
          </a:solidFill>
          <a:ln w="12700">
            <a:solidFill>
              <a:srgbClr val="2563EB"/>
            </a:solidFill>
            <a:prstDash val="solid"/>
          </a:ln>
        </p:spPr>
      </p:sp>
      <p:sp>
        <p:nvSpPr>
          <p:cNvPr id="4" name="文本框 3"/>
          <p:cNvSpPr txBox="1"/>
          <p:nvPr/>
        </p:nvSpPr>
        <p:spPr>
          <a:xfrm>
            <a:off x="828040" y="1880235"/>
            <a:ext cx="7629525" cy="829945"/>
          </a:xfrm>
          <a:prstGeom prst="rect">
            <a:avLst/>
          </a:prstGeom>
        </p:spPr>
        <p:txBody>
          <a:bodyPr wrap="square">
            <a:spAutoFit/>
          </a:bodyPr>
          <a:p>
            <a:pPr marL="0" indent="457200" algn="just"/>
            <a:r>
              <a:rPr lang="en-US" altLang="zh-CN" sz="1600" b="0" i="0">
                <a:solidFill>
                  <a:srgbClr val="3C4043"/>
                </a:solidFill>
                <a:latin typeface="Roboto"/>
                <a:ea typeface="Roboto"/>
              </a:rPr>
              <a:t>Experimental results show that their model performs well on GUI tasks and outperforms several open-source baseline models. Their proposed architecture adapts to and enhances the capabilities of these models.</a:t>
            </a:r>
            <a:endParaRPr lang="en-US" altLang="zh-CN" sz="1600" b="0" i="0">
              <a:solidFill>
                <a:srgbClr val="3C4043"/>
              </a:solidFill>
              <a:latin typeface="Roboto"/>
              <a:ea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0B1220"/>
          </a:solidFill>
          <a:ln w="12700">
            <a:solidFill>
              <a:srgbClr val="0B1220"/>
            </a:solidFill>
            <a:prstDash val="solid"/>
          </a:ln>
        </p:spPr>
      </p:sp>
      <p:sp>
        <p:nvSpPr>
          <p:cNvPr id="3" name="Text 1"/>
          <p:cNvSpPr/>
          <p:nvPr/>
        </p:nvSpPr>
        <p:spPr>
          <a:xfrm>
            <a:off x="548640" y="118872"/>
            <a:ext cx="10698480" cy="3200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charset="0"/>
                <a:ea typeface="Calibri" panose="020F0502020204030204" pitchFamily="34" charset="-122"/>
                <a:cs typeface="Calibri" panose="020F0502020204030204" pitchFamily="34" charset="-120"/>
              </a:rPr>
              <a:t> Takeaways, limitations.</a:t>
            </a:r>
            <a:endParaRPr lang="zh-CN" altLang="en-US" sz="1800" b="1" dirty="0">
              <a:solidFill>
                <a:srgbClr val="FFFFFF"/>
              </a:solidFill>
              <a:latin typeface="Calibri" panose="020F0502020204030204" charset="0"/>
              <a:ea typeface="宋体" panose="02010600030101010101" pitchFamily="2" charset="-122"/>
              <a:cs typeface="Calibri" panose="020F0502020204030204" pitchFamily="34" charset="-120"/>
            </a:endParaRPr>
          </a:p>
        </p:txBody>
      </p:sp>
      <p:sp>
        <p:nvSpPr>
          <p:cNvPr id="5" name="Text 3"/>
          <p:cNvSpPr/>
          <p:nvPr/>
        </p:nvSpPr>
        <p:spPr>
          <a:xfrm>
            <a:off x="731520" y="822960"/>
            <a:ext cx="5486400" cy="457200"/>
          </a:xfrm>
          <a:prstGeom prst="rect">
            <a:avLst/>
          </a:prstGeom>
          <a:noFill/>
        </p:spPr>
        <p:txBody>
          <a:bodyPr wrap="square" rtlCol="0" anchor="ctr"/>
          <a:lstStyle/>
          <a:p>
            <a:pPr marL="0" indent="0">
              <a:buNone/>
            </a:pPr>
            <a:r>
              <a:rPr lang="en-US" sz="3000" b="1" dirty="0">
                <a:solidFill>
                  <a:srgbClr val="111827"/>
                </a:solidFill>
                <a:latin typeface="Calibri" panose="020F0502020204030204" charset="0"/>
                <a:ea typeface="Calibri" panose="020F0502020204030204" pitchFamily="34" charset="-122"/>
                <a:cs typeface="Calibri" panose="020F0502020204030204" pitchFamily="34" charset="-120"/>
              </a:rPr>
              <a:t>Key takeaways</a:t>
            </a:r>
            <a:endParaRPr lang="en-US" sz="3000" dirty="0"/>
          </a:p>
        </p:txBody>
      </p:sp>
      <p:sp>
        <p:nvSpPr>
          <p:cNvPr id="6" name="Shape 4"/>
          <p:cNvSpPr/>
          <p:nvPr/>
        </p:nvSpPr>
        <p:spPr>
          <a:xfrm>
            <a:off x="731520" y="1463040"/>
            <a:ext cx="5669280" cy="246888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7" name="Text 5"/>
          <p:cNvSpPr/>
          <p:nvPr/>
        </p:nvSpPr>
        <p:spPr>
          <a:xfrm>
            <a:off x="1051560" y="1691640"/>
            <a:ext cx="5029200" cy="320040"/>
          </a:xfrm>
          <a:prstGeom prst="rect">
            <a:avLst/>
          </a:prstGeom>
          <a:noFill/>
        </p:spPr>
        <p:txBody>
          <a:bodyPr wrap="square" rtlCol="0" anchor="ctr"/>
          <a:lstStyle/>
          <a:p>
            <a:pPr marL="0" indent="0">
              <a:buNone/>
            </a:pPr>
            <a:r>
              <a:rPr lang="en-US" sz="1600" b="1" dirty="0">
                <a:solidFill>
                  <a:srgbClr val="111827"/>
                </a:solidFill>
                <a:latin typeface="Calibri" panose="020F0502020204030204" charset="0"/>
                <a:ea typeface="Calibri" panose="020F0502020204030204" pitchFamily="34" charset="-122"/>
                <a:cs typeface="Calibri" panose="020F0502020204030204" pitchFamily="34" charset="-120"/>
              </a:rPr>
              <a:t>What this paper shows</a:t>
            </a:r>
            <a:endParaRPr lang="en-US" sz="1600" dirty="0"/>
          </a:p>
        </p:txBody>
      </p:sp>
      <p:sp>
        <p:nvSpPr>
          <p:cNvPr id="8" name="Text 6"/>
          <p:cNvSpPr/>
          <p:nvPr/>
        </p:nvSpPr>
        <p:spPr>
          <a:xfrm>
            <a:off x="1188720" y="2240280"/>
            <a:ext cx="4754880" cy="1508760"/>
          </a:xfrm>
          <a:prstGeom prst="rect">
            <a:avLst/>
          </a:prstGeom>
          <a:noFill/>
        </p:spPr>
        <p:txBody>
          <a:bodyPr wrap="square" rtlCol="0" anchor="t"/>
          <a:lstStyle/>
          <a:p>
            <a:pPr marL="228600" indent="-228600">
              <a:lnSpc>
                <a:spcPct val="110000"/>
              </a:lnSpc>
              <a:buSzPct val="100000"/>
              <a:buChar char="•"/>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Two-stage SFT can internalize both perception and reasoning behaviors</a:t>
            </a:r>
            <a:endParaRPr lang="en-US" sz="1400" dirty="0"/>
          </a:p>
          <a:p>
            <a:pPr marL="228600" indent="-228600">
              <a:lnSpc>
                <a:spcPct val="110000"/>
              </a:lnSpc>
              <a:buSzPct val="100000"/>
              <a:buChar char="•"/>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Explicit expectation–reflection reduces “stuck in a loop” failures</a:t>
            </a:r>
            <a:endParaRPr lang="en-US" sz="1400" dirty="0"/>
          </a:p>
          <a:p>
            <a:pPr marL="228600" indent="-228600">
              <a:lnSpc>
                <a:spcPct val="110000"/>
              </a:lnSpc>
              <a:buSzPct val="100000"/>
              <a:buChar char="•"/>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A small (2B) model can be competitive on GUI grounding benchmarks</a:t>
            </a:r>
            <a:endParaRPr lang="en-US" sz="1400" dirty="0"/>
          </a:p>
        </p:txBody>
      </p:sp>
      <p:sp>
        <p:nvSpPr>
          <p:cNvPr id="9" name="Shape 7"/>
          <p:cNvSpPr/>
          <p:nvPr/>
        </p:nvSpPr>
        <p:spPr>
          <a:xfrm>
            <a:off x="6522720" y="1417320"/>
            <a:ext cx="5669280" cy="251460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0" name="Text 8"/>
          <p:cNvSpPr/>
          <p:nvPr/>
        </p:nvSpPr>
        <p:spPr>
          <a:xfrm>
            <a:off x="6842760" y="1645920"/>
            <a:ext cx="5029200" cy="320040"/>
          </a:xfrm>
          <a:prstGeom prst="rect">
            <a:avLst/>
          </a:prstGeom>
          <a:noFill/>
        </p:spPr>
        <p:txBody>
          <a:bodyPr wrap="square" rtlCol="0" anchor="ctr"/>
          <a:lstStyle/>
          <a:p>
            <a:pPr marL="0" indent="0">
              <a:buNone/>
            </a:pPr>
            <a:r>
              <a:rPr lang="en-US" sz="1600" b="1" dirty="0">
                <a:solidFill>
                  <a:srgbClr val="111827"/>
                </a:solidFill>
                <a:latin typeface="Calibri" panose="020F0502020204030204" charset="0"/>
                <a:ea typeface="Calibri" panose="020F0502020204030204" pitchFamily="34" charset="-122"/>
                <a:cs typeface="Calibri" panose="020F0502020204030204" pitchFamily="34" charset="-120"/>
              </a:rPr>
              <a:t>Limitations (from the results)</a:t>
            </a:r>
            <a:endParaRPr lang="en-US" sz="1600" dirty="0"/>
          </a:p>
        </p:txBody>
      </p:sp>
      <p:sp>
        <p:nvSpPr>
          <p:cNvPr id="11" name="Text 9"/>
          <p:cNvSpPr/>
          <p:nvPr/>
        </p:nvSpPr>
        <p:spPr>
          <a:xfrm>
            <a:off x="6979920" y="2194560"/>
            <a:ext cx="4754880" cy="1554480"/>
          </a:xfrm>
          <a:prstGeom prst="rect">
            <a:avLst/>
          </a:prstGeom>
          <a:noFill/>
        </p:spPr>
        <p:txBody>
          <a:bodyPr wrap="square" rtlCol="0" anchor="t"/>
          <a:lstStyle/>
          <a:p>
            <a:pPr marL="228600" indent="-228600">
              <a:lnSpc>
                <a:spcPct val="110000"/>
              </a:lnSpc>
              <a:buSzPct val="100000"/>
              <a:buChar char="•"/>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End-to-end task success is still low on AndroidWorld (0.09 A</a:t>
            </a: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vg. SR)</a:t>
            </a:r>
            <a:endParaRPr lang="en-US" sz="1400" dirty="0"/>
          </a:p>
          <a:p>
            <a:pPr marL="228600" indent="-228600">
              <a:lnSpc>
                <a:spcPct val="110000"/>
              </a:lnSpc>
              <a:buSzPct val="100000"/>
              <a:buChar char="•"/>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Performance depends on the quality/coverage of synthesized trajectories</a:t>
            </a:r>
            <a:endParaRPr lang="en-US" sz="1400" dirty="0"/>
          </a:p>
          <a:p>
            <a:pPr marL="228600" indent="-228600">
              <a:lnSpc>
                <a:spcPct val="110000"/>
              </a:lnSpc>
              <a:buSzPct val="100000"/>
              <a:buChar char="•"/>
            </a:pPr>
            <a:r>
              <a:rPr lang="en-US" sz="1400" dirty="0">
                <a:solidFill>
                  <a:srgbClr val="111827"/>
                </a:solidFill>
                <a:latin typeface="Calibri" panose="020F0502020204030204" charset="0"/>
                <a:ea typeface="Calibri" panose="020F0502020204030204" pitchFamily="34" charset="-122"/>
                <a:cs typeface="Calibri" panose="020F0502020204030204" pitchFamily="34" charset="-120"/>
              </a:rPr>
              <a:t>Real deployments must handle latency, safety, and UI changes over time</a:t>
            </a:r>
            <a:endParaRPr lang="en-US" sz="1400" dirty="0"/>
          </a:p>
        </p:txBody>
      </p:sp>
      <p:sp>
        <p:nvSpPr>
          <p:cNvPr id="15" name="Shape 13"/>
          <p:cNvSpPr/>
          <p:nvPr/>
        </p:nvSpPr>
        <p:spPr>
          <a:xfrm>
            <a:off x="2900680" y="4739640"/>
            <a:ext cx="4434840" cy="1600200"/>
          </a:xfrm>
          <a:prstGeom prst="roundRect">
            <a:avLst/>
          </a:prstGeom>
          <a:solidFill>
            <a:srgbClr val="0B1220"/>
          </a:solidFill>
          <a:ln w="12700">
            <a:solidFill>
              <a:srgbClr val="111827"/>
            </a:solidFill>
            <a:prstDash val="solid"/>
          </a:ln>
        </p:spPr>
      </p:sp>
      <p:sp>
        <p:nvSpPr>
          <p:cNvPr id="17" name="Text 15"/>
          <p:cNvSpPr/>
          <p:nvPr/>
        </p:nvSpPr>
        <p:spPr>
          <a:xfrm>
            <a:off x="3144520" y="5036820"/>
            <a:ext cx="4069080" cy="1005840"/>
          </a:xfrm>
          <a:prstGeom prst="rect">
            <a:avLst/>
          </a:prstGeom>
          <a:noFill/>
        </p:spPr>
        <p:txBody>
          <a:bodyPr wrap="square" rtlCol="0" anchor="ctr"/>
          <a:lstStyle/>
          <a:p>
            <a:pPr marL="0" indent="0" algn="ctr">
              <a:buNone/>
            </a:pPr>
            <a:r>
              <a:rPr lang="en-US" sz="2000" dirty="0">
                <a:solidFill>
                  <a:srgbClr val="E5E7EB"/>
                </a:solidFill>
                <a:latin typeface="Calibri" panose="020F0502020204030204" charset="0"/>
                <a:ea typeface="Calibri" panose="020F0502020204030204" pitchFamily="34" charset="-122"/>
                <a:cs typeface="Calibri" panose="020F0502020204030204" pitchFamily="34" charset="-120"/>
              </a:rPr>
              <a:t>Thanks! Questions?</a:t>
            </a:r>
            <a:endParaRPr lang="en-US" sz="2000" dirty="0"/>
          </a:p>
        </p:txBody>
      </p:sp>
    </p:spTree>
  </p:cSld>
  <p:clrMapOvr>
    <a:masterClrMapping/>
  </p:clrMapOvr>
</p:sld>
</file>

<file path=ppt/tags/tag1.xml><?xml version="1.0" encoding="utf-8"?>
<p:tagLst xmlns:p="http://schemas.openxmlformats.org/presentationml/2006/main">
  <p:tag name="KSO_WM_DIAGRAM_VIRTUALLY_FRAME" val="{&quot;height&quot;:360,&quot;left&quot;:57.6,&quot;top&quot;:151.2,&quot;width&quot;:842.4}"/>
</p:tagLst>
</file>

<file path=ppt/tags/tag2.xml><?xml version="1.0" encoding="utf-8"?>
<p:tagLst xmlns:p="http://schemas.openxmlformats.org/presentationml/2006/main">
  <p:tag name="KSO_WM_DIAGRAM_VIRTUALLY_FRAME" val="{&quot;height&quot;:360,&quot;left&quot;:57.6,&quot;top&quot;:151.2,&quot;width&quot;:842.4}"/>
</p:tagLst>
</file>

<file path=ppt/tags/tag3.xml><?xml version="1.0" encoding="utf-8"?>
<p:tagLst xmlns:p="http://schemas.openxmlformats.org/presentationml/2006/main">
  <p:tag name="KSO_WM_DIAGRAM_VIRTUALLY_FRAME" val="{&quot;height&quot;:360,&quot;left&quot;:57.6,&quot;top&quot;:151.2,&quot;width&quot;:842.4}"/>
</p:tagLst>
</file>

<file path=ppt/tags/tag4.xml><?xml version="1.0" encoding="utf-8"?>
<p:tagLst xmlns:p="http://schemas.openxmlformats.org/presentationml/2006/main">
  <p:tag name="KSO_WM_DIAGRAM_VIRTUALLY_FRAME" val="{&quot;height&quot;:360,&quot;left&quot;:57.6,&quot;top&quot;:151.2,&quot;width&quot;:842.4}"/>
</p:tagLst>
</file>

<file path=ppt/tags/tag5.xml><?xml version="1.0" encoding="utf-8"?>
<p:tagLst xmlns:p="http://schemas.openxmlformats.org/presentationml/2006/main">
  <p:tag name="KSO_WM_DIAGRAM_VIRTUALLY_FRAME" val="{&quot;height&quot;:360,&quot;left&quot;:57.6,&quot;top&quot;:151.2,&quot;width&quot;:842.4}"/>
</p:tagLst>
</file>

<file path=ppt/tags/tag6.xml><?xml version="1.0" encoding="utf-8"?>
<p:tagLst xmlns:p="http://schemas.openxmlformats.org/presentationml/2006/main">
  <p:tag name="KSO_WM_DIAGRAM_VIRTUALLY_FRAME" val="{&quot;height&quot;:360,&quot;left&quot;:57.6,&quot;top&quot;:151.2,&quot;width&quot;:842.4}"/>
</p:tagLst>
</file>

<file path=ppt/tags/tag7.xml><?xml version="1.0" encoding="utf-8"?>
<p:tagLst xmlns:p="http://schemas.openxmlformats.org/presentationml/2006/main">
  <p:tag name="KSO_WM_DIAGRAM_VIRTUALLY_FRAME" val="{&quot;height&quot;:403.2,&quot;left&quot;:594,&quot;top&quot;:118.8,&quot;width&quot;:363.6}"/>
</p:tagLst>
</file>

<file path=ppt/tags/tag8.xml><?xml version="1.0" encoding="utf-8"?>
<p:tagLst xmlns:p="http://schemas.openxmlformats.org/presentationml/2006/main">
  <p:tag name="resource_record_key" val="{&quot;10&quot;:[3634243,2157236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4782</Words>
  <Application>WPS 演示</Application>
  <PresentationFormat>宽屏</PresentationFormat>
  <Paragraphs>191</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宋体</vt:lpstr>
      <vt:lpstr>Wingdings</vt:lpstr>
      <vt:lpstr>Times New Roman</vt:lpstr>
      <vt:lpstr>Calibri</vt:lpstr>
      <vt:lpstr>Calibri</vt:lpstr>
      <vt:lpstr>Calibri</vt:lpstr>
      <vt:lpstr>Arial</vt:lpstr>
      <vt:lpstr>Roboto</vt:lpstr>
      <vt:lpstr>微软雅黑</vt:lpstr>
      <vt:lpstr>Arial Unicode MS</vt:lpstr>
      <vt:lpstr>Roboto</vt:lpstr>
      <vt:lpstr>WPS</vt:lpstr>
      <vt:lpstr>InfiGUIAgent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幕僚</cp:lastModifiedBy>
  <cp:revision>8</cp:revision>
  <dcterms:created xsi:type="dcterms:W3CDTF">2023-08-09T12:44:00Z</dcterms:created>
  <dcterms:modified xsi:type="dcterms:W3CDTF">2025-12-23T12:39:57Z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5B46300F06B9439E92194B31EF27F53F_12</vt:lpwstr>
  </property>
</Properties>
</file>